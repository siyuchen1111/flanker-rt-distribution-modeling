
<file path=[Content_Types].xml><?xml version="1.0" encoding="utf-8"?>
<Types xmlns="http://schemas.openxmlformats.org/package/2006/content-types">
  <Default Extension="xml" ContentType="application/vnd.openxmlformats-package.core-properties+xml"/>
  <Default Extension="emf" ContentType="image/x-emf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5deebdbf63b488b" /><Relationship Type="http://schemas.openxmlformats.org/officeDocument/2006/relationships/extended-properties" Target="/docProps/app.xml" Id="R8b65006636814c14" /><Relationship Type="http://schemas.openxmlformats.org/officeDocument/2006/relationships/officeDocument" Target="/ppt/presentation.xml" Id="R40c4fb570c3c41b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ead2bc335c04587"/>
  </p:sldMasterIdLst>
  <p:notesMasterIdLst>
    <p:notesMasterId xmlns:r="http://schemas.openxmlformats.org/officeDocument/2006/relationships" r:id="Rcf1ffd190d8245b6"/>
  </p:notesMasterIdLst>
  <p:sldIdLst>
    <p:sldId xmlns:r="http://schemas.openxmlformats.org/officeDocument/2006/relationships" id="256" r:id="Re6d7745a2b8243b7"/>
    <p:sldId xmlns:r="http://schemas.openxmlformats.org/officeDocument/2006/relationships" id="257" r:id="R89c86192f4954d31"/>
    <p:sldId xmlns:r="http://schemas.openxmlformats.org/officeDocument/2006/relationships" id="258" r:id="R991a9f888ea74727"/>
    <p:sldId xmlns:r="http://schemas.openxmlformats.org/officeDocument/2006/relationships" id="259" r:id="Rc8fb2b3334a14d80"/>
    <p:sldId xmlns:r="http://schemas.openxmlformats.org/officeDocument/2006/relationships" id="260" r:id="R9462a9aae03241a5"/>
    <p:sldId xmlns:r="http://schemas.openxmlformats.org/officeDocument/2006/relationships" id="261" r:id="Rc45044e7e0df45fb"/>
    <p:sldId xmlns:r="http://schemas.openxmlformats.org/officeDocument/2006/relationships" id="262" r:id="R757cd21aa28e4d41"/>
    <p:sldId xmlns:r="http://schemas.openxmlformats.org/officeDocument/2006/relationships" id="263" r:id="Rd047b370d8214c85"/>
    <p:sldId xmlns:r="http://schemas.openxmlformats.org/officeDocument/2006/relationships" id="264" r:id="Rda07df8e22624c35"/>
    <p:sldId xmlns:r="http://schemas.openxmlformats.org/officeDocument/2006/relationships" id="265" r:id="R27b9905955194af2"/>
    <p:sldId xmlns:r="http://schemas.openxmlformats.org/officeDocument/2006/relationships" id="266" r:id="R70bd268a5f1d4819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012ECD-51FC-41F1-AA8D-1B2483CD663E}" styleName="浅色样式 2 - 强调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10A1B5D5-9B99-4C35-A422-299274C87663}" styleName="中度样式 1 - 强调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B301B821-A1FF-4177-AEE7-76D212191A09}" styleName="中度样式 1 - 强调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C4B1156A-380E-4F78-BDF5-A606A8083BF9}" styleName="中度样式 4 - 强调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E929F9F4-4A8F-4326-A1B4-22849713DDAB}" styleName="深色样式 1 - 强调 4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wholeTbl>
    <a:band1H>
      <a:tcStyle>
        <a:tcBdr/>
        <a:fill>
          <a:solidFill>
            <a:schemeClr val="accent4">
              <a:shade val="60000"/>
            </a:schemeClr>
          </a:solidFill>
        </a:fill>
      </a:tcStyle>
    </a:band1H>
    <a:band1V>
      <a:tcStyle>
        <a:tcBdr/>
        <a:fill>
          <a:solidFill>
            <a:schemeClr val="accent4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4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4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4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91EBBBCC-DAD2-459C-BE2E-F6DE35CF9A28}" styleName="深色样式 2 - 强调 3/强调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0660B408-B3CF-4A94-85FC-2B1E0A45F4A2}" styleName="深色样式 2 - 强调 1/强调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5202B0CA-FC54-4496-8BCA-5EF66A818D29}" styleName="深色样式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3C2FFA5D-87B4-456A-9821-1D502468CF0F}" styleName="主题样式 1 - 强调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D113A9D2-9D6B-4929-AA2D-F23B5EE8CBE7}" styleName="主题样式 2 - 强调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C083E6E3-FA7D-4D7B-A595-EF9225AFEA82}" styleName="浅色样式 1 - 强调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0E3FDE45-AF77-4B5C-9715-49D594BDF05E}" styleName="浅色样式 1 - 强调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D27102A9-8310-4765-A935-A1911B00CA55}" styleName="浅色样式 1 - 强调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5FD0F851-EC5A-4D38-B0AD-8093EC10F338}" styleName="浅色样式 1 - 强调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3B4B98B0-60AC-42C2-AFA5-B58CD77FA1E5}" styleName="浅色样式 1 - 强调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9D7B26C5-4107-4FEC-AEDC-1716B250A1EF}" styleName="浅色样式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049b56fd2ef46cf" /><Relationship Type="http://schemas.openxmlformats.org/officeDocument/2006/relationships/slideMaster" Target="/ppt/slideMasters/slideMaster1.xml" Id="R6ead2bc335c04587" /><Relationship Type="http://schemas.openxmlformats.org/officeDocument/2006/relationships/notesMaster" Target="/ppt/notesMasters/notesMaster1.xml" Id="Rcf1ffd190d8245b6" /><Relationship Type="http://schemas.openxmlformats.org/officeDocument/2006/relationships/presProps" Target="/ppt/presProps.xml" Id="R30dea43fac3341ef" /><Relationship Type="http://schemas.openxmlformats.org/officeDocument/2006/relationships/viewProps" Target="/ppt/viewProps.xml" Id="Ra6c696df59fd4b2a" /><Relationship Type="http://schemas.openxmlformats.org/officeDocument/2006/relationships/tableStyles" Target="/ppt/tableStyles.xml" Id="R742977f8359343fd" /><Relationship Type="http://schemas.openxmlformats.org/officeDocument/2006/relationships/slide" Target="/ppt/slides/slide1.xml" Id="Re6d7745a2b8243b7" /><Relationship Type="http://schemas.openxmlformats.org/officeDocument/2006/relationships/slide" Target="/ppt/slides/slide2.xml" Id="R89c86192f4954d31" /><Relationship Type="http://schemas.openxmlformats.org/officeDocument/2006/relationships/slide" Target="/ppt/slides/slide3.xml" Id="R991a9f888ea74727" /><Relationship Type="http://schemas.openxmlformats.org/officeDocument/2006/relationships/slide" Target="/ppt/slides/slide4.xml" Id="Rc8fb2b3334a14d80" /><Relationship Type="http://schemas.openxmlformats.org/officeDocument/2006/relationships/slide" Target="/ppt/slides/slide5.xml" Id="R9462a9aae03241a5" /><Relationship Type="http://schemas.openxmlformats.org/officeDocument/2006/relationships/slide" Target="/ppt/slides/slide6.xml" Id="Rc45044e7e0df45fb" /><Relationship Type="http://schemas.openxmlformats.org/officeDocument/2006/relationships/slide" Target="/ppt/slides/slide7.xml" Id="R757cd21aa28e4d41" /><Relationship Type="http://schemas.openxmlformats.org/officeDocument/2006/relationships/slide" Target="/ppt/slides/slide8.xml" Id="Rd047b370d8214c85" /><Relationship Type="http://schemas.openxmlformats.org/officeDocument/2006/relationships/slide" Target="/ppt/slides/slide9.xml" Id="Rda07df8e22624c35" /><Relationship Type="http://schemas.openxmlformats.org/officeDocument/2006/relationships/slide" Target="/ppt/slides/slide10.xml" Id="R27b9905955194af2" /><Relationship Type="http://schemas.openxmlformats.org/officeDocument/2006/relationships/slide" Target="/ppt/slides/slide11.xml" Id="R70bd268a5f1d481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ff66d80c60c4e4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d1dd1348b834d30" /><Relationship Type="http://schemas.openxmlformats.org/officeDocument/2006/relationships/notesMaster" Target="/ppt/notesMasters/notesMaster1.xml" Id="R53e077b36947401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1afc691c4d6460a" /><Relationship Type="http://schemas.openxmlformats.org/officeDocument/2006/relationships/notesMaster" Target="/ppt/notesMasters/notesMaster1.xml" Id="R9ab3956aba4946b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569b655eed746b4" /><Relationship Type="http://schemas.openxmlformats.org/officeDocument/2006/relationships/notesMaster" Target="/ppt/notesMasters/notesMaster1.xml" Id="Rfbe6e7ee9c3a486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aff8862d1844976" /><Relationship Type="http://schemas.openxmlformats.org/officeDocument/2006/relationships/notesMaster" Target="/ppt/notesMasters/notesMaster1.xml" Id="R7b9925a7896c422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29210103ea74f5f" /><Relationship Type="http://schemas.openxmlformats.org/officeDocument/2006/relationships/notesMaster" Target="/ppt/notesMasters/notesMaster1.xml" Id="R3200034fbd82480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b31a85e6c7b4520" /><Relationship Type="http://schemas.openxmlformats.org/officeDocument/2006/relationships/notesMaster" Target="/ppt/notesMasters/notesMaster1.xml" Id="R564432f45aa6409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7fb99d11cd94154" /><Relationship Type="http://schemas.openxmlformats.org/officeDocument/2006/relationships/notesMaster" Target="/ppt/notesMasters/notesMaster1.xml" Id="R81ca547e910d4f7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0f052b135424c85" /><Relationship Type="http://schemas.openxmlformats.org/officeDocument/2006/relationships/notesMaster" Target="/ppt/notesMasters/notesMaster1.xml" Id="R51869bc3352c4ae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49e245584dc484a" /><Relationship Type="http://schemas.openxmlformats.org/officeDocument/2006/relationships/notesMaster" Target="/ppt/notesMasters/notesMaster1.xml" Id="R0bf6bcd66d2d414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20eb3348d6544dd" /><Relationship Type="http://schemas.openxmlformats.org/officeDocument/2006/relationships/notesMaster" Target="/ppt/notesMasters/notesMaster1.xml" Id="R64c5a182bd0e4d5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30ae19e040b4966" /><Relationship Type="http://schemas.openxmlformats.org/officeDocument/2006/relationships/notesMaster" Target="/ppt/notesMasters/notesMaster1.xml" Id="R48cd190ac6ff4f4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我今天主要汇报目前 Flanker 模型的进展。当前表现最好的是 WR2：它保留 VGG-16 和四选择 Wong–Wang，主要改变视觉证据进入决策模型的时间。之前我们先看总体 RT 和正确率，后来使用 RT bins 检查错误发生在分布的什么位置，最近又检验了 target–flanker 双通道机制。今天我主要讲 WR2 已经解决了什么、始终无法克服什么，以及最新实验能够把问题定位到什么程度。数据包括 12 名年轻被试和 4 名老年被试，所以仍然是内部验证。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这一页是 WR2 的完整结构。刺激先进入冻结的 VGG-16，VGG 提供不同网络层上的四方向证据。layer-to-time mapping 把不同层映射到时间轴。WR2 根据早期证据不确定性调整时间压缩：普通试次接近 0.72，高不确定性试次向 0.42 移动。这些值来自训练数据上的局部候选比较，并不是使用 congruent 或 incongruent 标签直接指定。随后四方向证据进入 Wong–Wang，相互竞争的状态越过阈值时产生选择和决策时间，再加上非决策时间得到 RT。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WR2 不是端到端重新训练的模型。VGG 使用第一阶段已有权重，并在行为拟合中冻结。WR2 的时间参数来自 240 个局部候选，我们用训练被试比较它们在一致与不一致错误率、RT 和年龄差异上的表现。Wong–Wang 和非决策时间主要沿用 R5 年龄组参数。评价采用四折被试留出：每折留出 3 名年轻人和 1 名老年人，模型选择只看训练被试，留出被试用于评价。因此它比全样本拟合更严格，但仍不是独立外部验证。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WR2 并不是完全失败。它能够复现几个宏观规律：老年组整体更慢，不一致条件比一致条件更慢，RT 具有右偏和试次变异，而且同一个视觉模型能够应用于两个年龄组。KDE 中蓝色是一致条件，橙色是不一致条件，模型基本能把不一致分布推向更慢的位置。所以问题不是模型完全没有 congruency effect 或年龄差异，而是分布移动的程度与错误出现的位置仍然不准确。我把 WR2 看作能够解释一阶行为方向、但还不能解释完整联合分布的基线。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目前最关键的问题不是模型会不会犯错，而是错误发生在 RT 分布的什么位置。人类会犯错，模型也会犯错，但年轻组不一致条件下模型的快速错误过多，正确与错误分布的相对位置也与人类不同。在统一首达规则的比较中，完整 WR2 的 RT 中位数仍与人类相差约 205 毫秒。另一方面，人类在一致条件下有少量错误，模型却往往接近完美正确。因此只优化总体正确率可能得到数值不错、机制却不对的模型。真正需要解释的是在什么条件、以什么速度、为什么犯错。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因为 compression 文章讨论 measurement error 对 observed RT distribution 的影响，我们检查了固定时间 bins、被试内等人数 bins、连续密度和 ECDF，也做了 1/60 秒离散以及 60 Hz 显示器加 125 Hz 键盘的敏感性情景。由于没有真实硬件记录，这些不能称为真实校正。结果是离散化会改变局部形状，但没有让核心差距消失，也没有根本改变模型排名。因此 bins 很适合定位失败：等人数 bins 看快到慢的错误曲线，固定 bins 保留绝对 RT 和年龄差异；但 binning 不能修复模型机制。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接下来我们检查更上游的问题：VGG 是否根本无法区分中央 target 与外围 flankers。我们从同一刺激重建完整、target-only 和 flanker-only 三个版本，并输入同一个冻结 VGG。Conv3 上 target-only 的 target 方向解码率约 97.9%，flanker-only 的 flanker 方向为 100%；完整刺激重建也与原缓存结果完全一致，共覆盖 9,990 个刺激。因此 VGG 中存在可分的 target 和 flanker 信息。但信息存在不等于当前读取方式正确使用了它；完整图像证据可能在进入 Wong–Wang 前已经混合了来源身份。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既然 VGG 中存在可分信息，我们测试把 target 和 flanker 作为不同时间路径输入同一个 Wong–Wang。VGG、WR2、Wong–Wang 参数、阈值、非决策时间、证据总能量、被试折和随机种子都保持不变，只改变来源组成与时间。M0 是完整图像 WR2；M1 是两类证据同时进入；M2 是 flanker 早期较强并衰减、target 延迟增强；M3 是 target 早、flanker 晚的反向控制。通过标准要求连续 RT、总体错误率和错误率随 RT 的曲线同时改善，不能只改善一个最快 bin。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结果是没有一个双通道候选通过完整标准。M0 的快速错误差距约 17.7 个百分点，RT 中位数差约 205 毫秒。M1 的差距扩大到 29.5 个百分点。原本最期待的 M2 扩大到 47.7 个百分点，说明简单实现中的早期 flanker 路径过强。M3 的最快 bin 差距只有 3.2 个百分点，但总体错误率、较慢 bins 和 RT 分布明显恶化，所以它只是通过在其他地方制造错误获得局部改善。四折、每折十个种子中，全部模型都是 0/40 次运行和 0/4 个折通过。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错误率随相对 RT 的曲线解释了这些失败。M2 实现了早期 flanker 占优，却产生过多年轻快速错误；M3 缩小最快 bin 差距，却在慢速不一致 bins 中接近完全错误；M1 让两类证据长期成为近似对等竞争者，导致冲突试次持续过度模糊。所有模型还共同缺少一致条件下的自然少量错误。因此固定的两条时间包络不够，可能还缺少试次间冲突强度、恢复速度、紧迫性或读出动态。右下图中的主轨迹是平均趋势，细线显示单次 Wong–Wang 内部噪声。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综合这些结果，目前受到挑战的是具体实现，而不是已经能够否定 VGG、Wong–Wang 或证据积累理论。VGG 中可以读出来源方向，但当前空间读取可能丢失来源身份；一种固定双通道规则失败，也不足以否定竞争积累框架。稳定的失败是冲突条件下错误—RT 曲线不正确，以及一致条件缺少自然错误。我想停在这里听您的判断：您觉得更像是空间证据读取问题，还是 Wong–Wang 决策动力学问题？我们应继续在现有框架内做机制检验，还是加入其他模型作对照？接下来应优先追求更好的联合拟合，还是优先建立能被新实验区分的机制？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14fcd0248894672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2b281dc8c9b490e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763887b663343bc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0ab341811964928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4cd140b18f64087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1ad402ab9754530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a54b67406a54b83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46ff9d539d744cb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c8d505960094510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7795d67ae874941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4305d16889b4c34" /></Relationships>
</file>

<file path=ppt/slideLayouts/slideLayout1.xml><?xml version="1.0" encoding="utf-8"?>
<p:sldLayout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781AA100-2ED9-597A-21CB-3521313C7A3B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副标题 2">
            <a:extLst xmlns:a="http://schemas.openxmlformats.org/drawingml/2006/main">
              <a:ext uri="{FF2B5EF4-FFF2-40B4-BE49-F238E27FC236}">
                <a16:creationId xmlns:a16="http://schemas.microsoft.com/office/drawing/2014/main" id="{A9B10C84-C082-07B6-0335-6AE53C9117D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单击此处编辑母版副标题样式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578F0DA8-2C18-6EF6-1386-D0B1592BB21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DAD7D95-EAC0-0241-8CB1-0BF3D40D876A}" type="datetimeFigureOut">
              <a:t>2026/6/13</a:t>
            </a:fld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5C20A218-9C4C-698B-6048-5CA3FD91AAD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CBBB376B-A19A-261A-C0DC-C6553AA1C37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629F5DD-F5D3-754E-9BB6-BE36D2A85F03}" type="slidenum">
              <a:t>‹#›</a:t>
            </a:fld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C7C4B894-8AA8-EED3-496C-1CE583A25F3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2DFE8F12-3EFE-0353-C8A5-E19292992BAC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二级</a:t>
            </a:r>
          </a:p>
          <a:p xmlns:a="http://schemas.openxmlformats.org/drawingml/2006/main">
            <a:pPr>
              <a:buNone/>
            </a:pPr>
            <a:r>
              <a:t>三级</a:t>
            </a:r>
          </a:p>
          <a:p xmlns:a="http://schemas.openxmlformats.org/drawingml/2006/main">
            <a:pPr>
              <a:buNone/>
            </a:pPr>
            <a:r>
              <a:t>四级</a:t>
            </a:r>
          </a:p>
          <a:p xmlns:a="http://schemas.openxmlformats.org/drawingml/2006/main">
            <a:pPr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07B1545C-DCE8-F3E1-AFA7-0706D642DD3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DAD7D95-EAC0-0241-8CB1-0BF3D40D876A}" type="datetimeFigureOut">
              <a:t>2026/6/13</a:t>
            </a:fld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EB7BE88D-F8E0-0DF6-348F-A91CA4A3180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89AC08A5-5598-DD7E-2D75-4217AB89E29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629F5DD-F5D3-754E-9BB6-BE36D2A85F03}" type="slidenum">
              <a:t>‹#›</a:t>
            </a:fld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24F6FE37-261A-0F64-27D2-28478FF3F64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1850" y="1709738"/>
            <a:ext cx="10515600" cy="2852737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60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04A436CC-55CF-58A2-A25F-6AE3C6D90F7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1850" y="4589463"/>
            <a:ext cx="10515600" cy="15001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 xmlns:a="http://schemas.openxmlformats.org/drawingml/2006/main">
            <a:pPr>
              <a:buNone/>
            </a:pPr>
            <a:r>
              <a:t>单击此处编辑母版文本样式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021392AD-5CE9-5DB2-06AE-DBA22B6AF23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DAD7D95-EAC0-0241-8CB1-0BF3D40D876A}" type="datetimeFigureOut">
              <a:t>2026/6/13</a:t>
            </a:fld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D6D82FC6-0370-B1B5-4261-B97BDC0A684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E5E58BC8-6227-A878-92B9-EB40E3FB805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629F5DD-F5D3-754E-9BB6-BE36D2A85F03}" type="slidenum">
              <a:t>‹#›</a:t>
            </a:fld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A091EA73-9A67-1028-B04A-A11A84A41D5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96CD2E7E-F30A-DD81-468C-50215913D0A6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二级</a:t>
            </a:r>
          </a:p>
          <a:p xmlns:a="http://schemas.openxmlformats.org/drawingml/2006/main">
            <a:pPr>
              <a:buNone/>
            </a:pPr>
            <a:r>
              <a:t>三级</a:t>
            </a:r>
          </a:p>
          <a:p xmlns:a="http://schemas.openxmlformats.org/drawingml/2006/main">
            <a:pPr>
              <a:buNone/>
            </a:pPr>
            <a:r>
              <a:t>四级</a:t>
            </a:r>
          </a:p>
          <a:p xmlns:a="http://schemas.openxmlformats.org/drawingml/2006/main">
            <a:pPr>
              <a:buNone/>
            </a:pPr>
            <a:r>
              <a:t>五级</a:t>
            </a:r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7F3FA2C0-C890-D9B8-024F-AE454E9309B7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二级</a:t>
            </a:r>
          </a:p>
          <a:p xmlns:a="http://schemas.openxmlformats.org/drawingml/2006/main">
            <a:pPr>
              <a:buNone/>
            </a:pPr>
            <a:r>
              <a:t>三级</a:t>
            </a:r>
          </a:p>
          <a:p xmlns:a="http://schemas.openxmlformats.org/drawingml/2006/main">
            <a:pPr>
              <a:buNone/>
            </a:pPr>
            <a:r>
              <a:t>四级</a:t>
            </a:r>
          </a:p>
          <a:p xmlns:a="http://schemas.openxmlformats.org/drawingml/2006/main">
            <a:pPr>
              <a:buNone/>
            </a:pPr>
            <a:r>
              <a:t>五级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6576A6C0-A3D5-5DEC-F86E-3A341243B2C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DAD7D95-EAC0-0241-8CB1-0BF3D40D876A}" type="datetimeFigureOut">
              <a:t>2026/6/13</a:t>
            </a:fld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75686945-30B2-2B3D-A7F4-3389702DBC6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0DF1F960-42C2-1099-FC40-571AD697B67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629F5DD-F5D3-754E-9BB6-BE36D2A85F03}" type="slidenum">
              <a:t>‹#›</a:t>
            </a:fld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8170A36B-5F03-3D30-014E-9C82F05115E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3AF5B8D0-4E0E-AC8C-B045-1D456DB25A2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>
              <a:buNone/>
            </a:pPr>
            <a:r>
              <a:t>单击此处编辑母版文本样式</a:t>
            </a:r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F6803D84-2EBB-B314-94D9-17603232DC79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二级</a:t>
            </a:r>
          </a:p>
          <a:p xmlns:a="http://schemas.openxmlformats.org/drawingml/2006/main">
            <a:pPr>
              <a:buNone/>
            </a:pPr>
            <a:r>
              <a:t>三级</a:t>
            </a:r>
          </a:p>
          <a:p xmlns:a="http://schemas.openxmlformats.org/drawingml/2006/main">
            <a:pPr>
              <a:buNone/>
            </a:pPr>
            <a:r>
              <a:t>四级</a:t>
            </a:r>
          </a:p>
          <a:p xmlns:a="http://schemas.openxmlformats.org/drawingml/2006/main">
            <a:pPr>
              <a:buNone/>
            </a:pPr>
            <a:r>
              <a:t>五级</a:t>
            </a:r>
          </a:p>
        </p:txBody>
      </p:sp>
      <p:sp>
        <p:nvSpPr>
          <p:cNvPr id="5" name="文本占位符 4">
            <a:extLst xmlns:a="http://schemas.openxmlformats.org/drawingml/2006/main">
              <a:ext uri="{FF2B5EF4-FFF2-40B4-BE49-F238E27FC236}">
                <a16:creationId xmlns:a16="http://schemas.microsoft.com/office/drawing/2014/main" id="{4A468833-3876-55A2-1713-14FFE42D7B78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>
              <a:buNone/>
            </a:pPr>
            <a:r>
              <a:t>单击此处编辑母版文本样式</a:t>
            </a:r>
          </a:p>
        </p:txBody>
      </p:sp>
      <p:sp>
        <p:nvSpPr>
          <p:cNvPr id="6" name="内容占位符 5">
            <a:extLst xmlns:a="http://schemas.openxmlformats.org/drawingml/2006/main">
              <a:ext uri="{FF2B5EF4-FFF2-40B4-BE49-F238E27FC236}">
                <a16:creationId xmlns:a16="http://schemas.microsoft.com/office/drawing/2014/main" id="{98A22078-7443-4C65-134E-D8B2DE488130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二级</a:t>
            </a:r>
          </a:p>
          <a:p xmlns:a="http://schemas.openxmlformats.org/drawingml/2006/main">
            <a:pPr>
              <a:buNone/>
            </a:pPr>
            <a:r>
              <a:t>三级</a:t>
            </a:r>
          </a:p>
          <a:p xmlns:a="http://schemas.openxmlformats.org/drawingml/2006/main">
            <a:pPr>
              <a:buNone/>
            </a:pPr>
            <a:r>
              <a:t>四级</a:t>
            </a:r>
          </a:p>
          <a:p xmlns:a="http://schemas.openxmlformats.org/drawingml/2006/main">
            <a:pPr>
              <a:buNone/>
            </a:pPr>
            <a:r>
              <a:t>五级</a:t>
            </a:r>
          </a:p>
        </p:txBody>
      </p:sp>
      <p:sp>
        <p:nvSpPr>
          <p:cNvPr id="7" name="日期占位符 6">
            <a:extLst xmlns:a="http://schemas.openxmlformats.org/drawingml/2006/main">
              <a:ext uri="{FF2B5EF4-FFF2-40B4-BE49-F238E27FC236}">
                <a16:creationId xmlns:a16="http://schemas.microsoft.com/office/drawing/2014/main" id="{829C4A46-DBD9-E444-8AF3-88F7D437406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DAD7D95-EAC0-0241-8CB1-0BF3D40D876A}" type="datetimeFigureOut">
              <a:t>2026/6/13</a:t>
            </a:fld>
          </a:p>
        </p:txBody>
      </p:sp>
      <p:sp>
        <p:nvSpPr>
          <p:cNvPr id="8" name="页脚占位符 7">
            <a:extLst xmlns:a="http://schemas.openxmlformats.org/drawingml/2006/main">
              <a:ext uri="{FF2B5EF4-FFF2-40B4-BE49-F238E27FC236}">
                <a16:creationId xmlns:a16="http://schemas.microsoft.com/office/drawing/2014/main" id="{67486285-180F-ADE8-74DB-03C9228D9C4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9DB16D10-B3A6-8F90-7BCD-DA9630E2952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629F5DD-F5D3-754E-9BB6-BE36D2A85F03}" type="slidenum">
              <a:t>‹#›</a:t>
            </a:fld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E1EDBEE8-9278-FEF6-FBE0-047D7EF1732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E13BC2EB-04DE-3330-BA42-FD97820AF75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DAD7D95-EAC0-0241-8CB1-0BF3D40D876A}" type="datetimeFigureOut">
              <a:t>2026/6/13</a:t>
            </a:fld>
          </a:p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5217DE26-4130-358E-ACB8-F107643AC7E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34BC4471-5A01-C7FC-53C9-313BF64899F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629F5DD-F5D3-754E-9BB6-BE36D2A85F03}" type="slidenum">
              <a:t>‹#›</a:t>
            </a:fld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日期占位符 1">
            <a:extLst xmlns:a="http://schemas.openxmlformats.org/drawingml/2006/main">
              <a:ext uri="{FF2B5EF4-FFF2-40B4-BE49-F238E27FC236}">
                <a16:creationId xmlns:a16="http://schemas.microsoft.com/office/drawing/2014/main" id="{B210A416-E8F7-16B4-209D-9828A2D2C07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DAD7D95-EAC0-0241-8CB1-0BF3D40D876A}" type="datetimeFigureOut">
              <a:t>2026/6/13</a:t>
            </a:fld>
          </a:p>
        </p:txBody>
      </p:sp>
      <p:sp>
        <p:nvSpPr>
          <p:cNvPr id="3" name="页脚占位符 2">
            <a:extLst xmlns:a="http://schemas.openxmlformats.org/drawingml/2006/main">
              <a:ext uri="{FF2B5EF4-FFF2-40B4-BE49-F238E27FC236}">
                <a16:creationId xmlns:a16="http://schemas.microsoft.com/office/drawing/2014/main" id="{F2D57DC2-704A-6489-FB9A-12F62E0E008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灯片编号占位符 3">
            <a:extLst xmlns:a="http://schemas.openxmlformats.org/drawingml/2006/main">
              <a:ext uri="{FF2B5EF4-FFF2-40B4-BE49-F238E27FC236}">
                <a16:creationId xmlns:a16="http://schemas.microsoft.com/office/drawing/2014/main" id="{E90B2F69-3836-35A7-8F2E-D80D48C6A59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629F5DD-F5D3-754E-9BB6-BE36D2A85F03}" type="slidenum">
              <a:t>‹#›</a:t>
            </a:fld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61D42966-BC19-1522-2601-1C3D7BAB4CD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A5187493-AFFB-4D74-5B41-E1B2305EE204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二级</a:t>
            </a:r>
          </a:p>
          <a:p xmlns:a="http://schemas.openxmlformats.org/drawingml/2006/main">
            <a:pPr>
              <a:buNone/>
            </a:pPr>
            <a:r>
              <a:t>三级</a:t>
            </a:r>
          </a:p>
          <a:p xmlns:a="http://schemas.openxmlformats.org/drawingml/2006/main">
            <a:pPr>
              <a:buNone/>
            </a:pPr>
            <a:r>
              <a:t>四级</a:t>
            </a:r>
          </a:p>
          <a:p xmlns:a="http://schemas.openxmlformats.org/drawingml/2006/main">
            <a:pPr>
              <a:buNone/>
            </a:pPr>
            <a:r>
              <a:t>五级</a:t>
            </a:r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CE8FC1DC-1942-40B6-0111-0735DE3E16E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5B38A1F4-1D92-227A-8AE6-E722D3D3CCD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DAD7D95-EAC0-0241-8CB1-0BF3D40D876A}" type="datetimeFigureOut">
              <a:t>2026/6/13</a:t>
            </a:fld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EA62C99F-699B-0C96-CE4E-DBB6CAF21B0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556CE6D6-34E6-116A-A9E2-53DB8538F41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629F5DD-F5D3-754E-9BB6-BE36D2A85F03}" type="slidenum">
              <a:t>‹#›</a:t>
            </a:fld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93BC00B0-D2F2-6AC4-7E98-FD4A5AF3971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图片占位符 2">
            <a:extLst xmlns:a="http://schemas.openxmlformats.org/drawingml/2006/main">
              <a:ext uri="{FF2B5EF4-FFF2-40B4-BE49-F238E27FC236}">
                <a16:creationId xmlns:a16="http://schemas.microsoft.com/office/drawing/2014/main" id="{AF461EC0-6669-F6FA-02BF-8C6A88E99D54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/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E5867D45-5631-22DA-6F0B-AB62737319C7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20AA4E83-AA34-CD8B-9B42-67B4163C1B9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DAD7D95-EAC0-0241-8CB1-0BF3D40D876A}" type="datetimeFigureOut">
              <a:t>2026/6/13</a:t>
            </a:fld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2777EC33-78B3-9F36-716B-85DCF463A6D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4CF1C477-4ED9-E294-1D02-E85E2BF949A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629F5DD-F5D3-754E-9BB6-BE36D2A85F03}" type="slidenum">
              <a:t>‹#›</a:t>
            </a:fld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AD2073D1-14F7-D7D4-60CB-E49C27DD498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355F45C0-C44E-2BAF-AB72-7DB6EE1170C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二级</a:t>
            </a:r>
          </a:p>
          <a:p xmlns:a="http://schemas.openxmlformats.org/drawingml/2006/main">
            <a:pPr>
              <a:buNone/>
            </a:pPr>
            <a:r>
              <a:t>三级</a:t>
            </a:r>
          </a:p>
          <a:p xmlns:a="http://schemas.openxmlformats.org/drawingml/2006/main">
            <a:pPr>
              <a:buNone/>
            </a:pPr>
            <a:r>
              <a:t>四级</a:t>
            </a:r>
          </a:p>
          <a:p xmlns:a="http://schemas.openxmlformats.org/drawingml/2006/main">
            <a:pPr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640D1267-310D-7051-4141-7CF7DB212BD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DAD7D95-EAC0-0241-8CB1-0BF3D40D876A}" type="datetimeFigureOut">
              <a:t>2026/6/13</a:t>
            </a:fld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A66C2701-CF21-E7EC-3B45-1E7D2599B31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9BF032B5-8E5D-578D-FD2C-8C5C150FCE1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629F5DD-F5D3-754E-9BB6-BE36D2A85F03}" type="slidenum">
              <a:t>‹#›</a:t>
            </a:fld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竖排标题 1">
            <a:extLst xmlns:a="http://schemas.openxmlformats.org/drawingml/2006/main">
              <a:ext uri="{FF2B5EF4-FFF2-40B4-BE49-F238E27FC236}">
                <a16:creationId xmlns:a16="http://schemas.microsoft.com/office/drawing/2014/main" id="{08B0A153-ED20-3E5F-A64C-65886C2B254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6B586F29-4ACA-2D9D-8AC4-E1FE6E7770D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二级</a:t>
            </a:r>
          </a:p>
          <a:p xmlns:a="http://schemas.openxmlformats.org/drawingml/2006/main">
            <a:pPr>
              <a:buNone/>
            </a:pPr>
            <a:r>
              <a:t>三级</a:t>
            </a:r>
          </a:p>
          <a:p xmlns:a="http://schemas.openxmlformats.org/drawingml/2006/main">
            <a:pPr>
              <a:buNone/>
            </a:pPr>
            <a:r>
              <a:t>四级</a:t>
            </a:r>
          </a:p>
          <a:p xmlns:a="http://schemas.openxmlformats.org/drawingml/2006/main">
            <a:pPr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53573BB3-F627-9B26-EBFD-C09E60AAB1C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DAD7D95-EAC0-0241-8CB1-0BF3D40D876A}" type="datetimeFigureOut">
              <a:t>2026/6/13</a:t>
            </a:fld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AE0ECF47-E6BA-6BEC-28A4-00AB9AC95EF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35F305F2-3EEB-5555-1B85-639271FA65C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629F5DD-F5D3-754E-9BB6-BE36D2A85F03}" type="slidenum">
              <a:t>‹#›</a:t>
            </a:fld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fc054292a1048ca" /><Relationship Type="http://schemas.openxmlformats.org/officeDocument/2006/relationships/slideLayout" Target="/ppt/slideLayouts/slideLayout1.xml" Id="Ra74a9c25a04a4dbb" /><Relationship Type="http://schemas.openxmlformats.org/officeDocument/2006/relationships/slideLayout" Target="/ppt/slideLayouts/slideLayout2.xml" Id="Rd2745d8d4a0048be" /><Relationship Type="http://schemas.openxmlformats.org/officeDocument/2006/relationships/slideLayout" Target="/ppt/slideLayouts/slideLayout3.xml" Id="R9179c163b8fb4574" /><Relationship Type="http://schemas.openxmlformats.org/officeDocument/2006/relationships/slideLayout" Target="/ppt/slideLayouts/slideLayout4.xml" Id="R8fbfdb61eb2c465b" /><Relationship Type="http://schemas.openxmlformats.org/officeDocument/2006/relationships/slideLayout" Target="/ppt/slideLayouts/slideLayout5.xml" Id="R93158beee01141fe" /><Relationship Type="http://schemas.openxmlformats.org/officeDocument/2006/relationships/slideLayout" Target="/ppt/slideLayouts/slideLayout6.xml" Id="Rba44f937e2d345e1" /><Relationship Type="http://schemas.openxmlformats.org/officeDocument/2006/relationships/slideLayout" Target="/ppt/slideLayouts/slideLayout7.xml" Id="R968a41a540334e16" /><Relationship Type="http://schemas.openxmlformats.org/officeDocument/2006/relationships/slideLayout" Target="/ppt/slideLayouts/slideLayout8.xml" Id="Rc63ccfba16ba4756" /><Relationship Type="http://schemas.openxmlformats.org/officeDocument/2006/relationships/slideLayout" Target="/ppt/slideLayouts/slideLayout9.xml" Id="Ra935daf5c1ed4770" /><Relationship Type="http://schemas.openxmlformats.org/officeDocument/2006/relationships/slideLayout" Target="/ppt/slideLayouts/slideLayout10.xml" Id="R1b15115483c54ba5" /><Relationship Type="http://schemas.openxmlformats.org/officeDocument/2006/relationships/slideLayout" Target="/ppt/slideLayouts/slideLayout11.xml" Id="R311ce9e98e59426b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2DAD8E7D-8782-8918-737A-9D05D11EB44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D70210CA-DCF0-D4E6-F955-E0E813F11B1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二级</a:t>
            </a:r>
          </a:p>
          <a:p xmlns:a="http://schemas.openxmlformats.org/drawingml/2006/main">
            <a:pPr>
              <a:buNone/>
            </a:pPr>
            <a:r>
              <a:t>三级</a:t>
            </a:r>
          </a:p>
          <a:p xmlns:a="http://schemas.openxmlformats.org/drawingml/2006/main">
            <a:pPr>
              <a:buNone/>
            </a:pPr>
            <a:r>
              <a:t>四级</a:t>
            </a:r>
          </a:p>
          <a:p xmlns:a="http://schemas.openxmlformats.org/drawingml/2006/main">
            <a:pPr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9F0F5B3E-3BC5-9B76-A34D-8C127368AC7A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>
            <a:fld id="{6DAD7D95-EAC0-0241-8CB1-0BF3D40D876A}" type="datetimeFigureOut">
              <a:t>2026/6/13</a:t>
            </a:fld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DBB3ABA8-AA30-C1D4-4953-8318C8EF3FAA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5173C547-E970-AA60-4FE0-EBAE7BF36C92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>
            <a:fld id="{4629F5DD-F5D3-754E-9BB6-BE36D2A85F03}" type="slidenum"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74a9c25a04a4dbb"/>
    <p:sldLayoutId xmlns:r="http://schemas.openxmlformats.org/officeDocument/2006/relationships" id="2147483650" r:id="Rd2745d8d4a0048be"/>
    <p:sldLayoutId xmlns:r="http://schemas.openxmlformats.org/officeDocument/2006/relationships" id="2147483651" r:id="R9179c163b8fb4574"/>
    <p:sldLayoutId xmlns:r="http://schemas.openxmlformats.org/officeDocument/2006/relationships" id="2147483652" r:id="R8fbfdb61eb2c465b"/>
    <p:sldLayoutId xmlns:r="http://schemas.openxmlformats.org/officeDocument/2006/relationships" id="2147483653" r:id="R93158beee01141fe"/>
    <p:sldLayoutId xmlns:r="http://schemas.openxmlformats.org/officeDocument/2006/relationships" id="2147483654" r:id="Rba44f937e2d345e1"/>
    <p:sldLayoutId xmlns:r="http://schemas.openxmlformats.org/officeDocument/2006/relationships" id="2147483655" r:id="R968a41a540334e16"/>
    <p:sldLayoutId xmlns:r="http://schemas.openxmlformats.org/officeDocument/2006/relationships" id="2147483656" r:id="Rc63ccfba16ba4756"/>
    <p:sldLayoutId xmlns:r="http://schemas.openxmlformats.org/officeDocument/2006/relationships" id="2147483657" r:id="Ra935daf5c1ed4770"/>
    <p:sldLayoutId xmlns:r="http://schemas.openxmlformats.org/officeDocument/2006/relationships" id="2147483658" r:id="R1b15115483c54ba5"/>
    <p:sldLayoutId xmlns:r="http://schemas.openxmlformats.org/officeDocument/2006/relationships" id="2147483659" r:id="R311ce9e98e59426b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dca787e4c32486d" /><Relationship Type="http://schemas.openxmlformats.org/officeDocument/2006/relationships/notesSlide" Target="/ppt/notesSlides/notesSlide1.xml" Id="R937b971be3a04f5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3eda3477a9f4667" /><Relationship Type="http://schemas.openxmlformats.org/officeDocument/2006/relationships/image" Target="/ppt/media/image.emf" Id="R5ef76d1379cc4070" /><Relationship Type="http://schemas.openxmlformats.org/officeDocument/2006/relationships/image" Target="/ppt/media/image.png" Id="Rbf6f236c3f26490c" /><Relationship Type="http://schemas.openxmlformats.org/officeDocument/2006/relationships/notesSlide" Target="/ppt/notesSlides/notesSlide2.xml" Id="Rf0b0a2048582456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99b8a52af284e70" /><Relationship Type="http://schemas.openxmlformats.org/officeDocument/2006/relationships/image" Target="/ppt/media/image2.emf" Id="R66f4669460f349a3" /><Relationship Type="http://schemas.openxmlformats.org/officeDocument/2006/relationships/image" Target="/ppt/media/image2.png" Id="Rc03b6522c0e741d4" /><Relationship Type="http://schemas.openxmlformats.org/officeDocument/2006/relationships/image" Target="/ppt/media/image3.png" Id="R3e60ab4569a14029" /><Relationship Type="http://schemas.openxmlformats.org/officeDocument/2006/relationships/image" Target="/ppt/media/image4.png" Id="R4f4fb2c5b0754ec7" /><Relationship Type="http://schemas.openxmlformats.org/officeDocument/2006/relationships/notesSlide" Target="/ppt/notesSlides/notesSlide3.xml" Id="Rfd446af52e3d4d1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7ff714f6bad4719" /><Relationship Type="http://schemas.openxmlformats.org/officeDocument/2006/relationships/image" Target="/ppt/media/image3.emf" Id="Rbf91d4cc561d4f92" /><Relationship Type="http://schemas.openxmlformats.org/officeDocument/2006/relationships/image" Target="/ppt/media/image4.emf" Id="Rd5d585e481c2481e" /><Relationship Type="http://schemas.openxmlformats.org/officeDocument/2006/relationships/image" Target="/ppt/media/image5.png" Id="Re3c8fbe900b04dd1" /><Relationship Type="http://schemas.openxmlformats.org/officeDocument/2006/relationships/image" Target="/ppt/media/image6.png" Id="R40a504cb402d4872" /><Relationship Type="http://schemas.openxmlformats.org/officeDocument/2006/relationships/notesSlide" Target="/ppt/notesSlides/notesSlide4.xml" Id="R294ef4992bcb401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d10c1e24a97467b" /><Relationship Type="http://schemas.openxmlformats.org/officeDocument/2006/relationships/image" Target="/ppt/media/image3.emf" Id="Rc9e989a2d7cb454c" /><Relationship Type="http://schemas.openxmlformats.org/officeDocument/2006/relationships/image" Target="/ppt/media/image4.emf" Id="Ra5b7fc09349c4344" /><Relationship Type="http://schemas.openxmlformats.org/officeDocument/2006/relationships/image" Target="/ppt/media/image7.png" Id="R17051f1ae33646e8" /><Relationship Type="http://schemas.openxmlformats.org/officeDocument/2006/relationships/image" Target="/ppt/media/image8.png" Id="Ra70fb9fd79954003" /><Relationship Type="http://schemas.openxmlformats.org/officeDocument/2006/relationships/notesSlide" Target="/ppt/notesSlides/notesSlide5.xml" Id="R85a48f61ea6f420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f2042639f7b499e" /><Relationship Type="http://schemas.openxmlformats.org/officeDocument/2006/relationships/image" Target="/ppt/media/image5.emf" Id="Rfac40f24d5f34f68" /><Relationship Type="http://schemas.openxmlformats.org/officeDocument/2006/relationships/image" Target="/ppt/media/image9.png" Id="Rb504abadeb484370" /><Relationship Type="http://schemas.openxmlformats.org/officeDocument/2006/relationships/notesSlide" Target="/ppt/notesSlides/notesSlide6.xml" Id="Re398cf05a86c449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d517bb4ed194b6a" /><Relationship Type="http://schemas.openxmlformats.org/officeDocument/2006/relationships/image" Target="/ppt/media/image2.emf" Id="R24965c2f71a5486e" /><Relationship Type="http://schemas.openxmlformats.org/officeDocument/2006/relationships/image" Target="/ppt/media/image2.png" Id="R32cbe5df612e454e" /><Relationship Type="http://schemas.openxmlformats.org/officeDocument/2006/relationships/image" Target="/ppt/media/image10.png" Id="R88d93ee7eaad4b85" /><Relationship Type="http://schemas.openxmlformats.org/officeDocument/2006/relationships/image" Target="/ppt/media/image11.png" Id="Re464154ab4134b34" /><Relationship Type="http://schemas.openxmlformats.org/officeDocument/2006/relationships/notesSlide" Target="/ppt/notesSlides/notesSlide7.xml" Id="R9adc34dc494245e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b5b2f96aae24831" /><Relationship Type="http://schemas.openxmlformats.org/officeDocument/2006/relationships/image" Target="/ppt/media/image.emf" Id="R5f82a6ae4da044de" /><Relationship Type="http://schemas.openxmlformats.org/officeDocument/2006/relationships/image" Target="/ppt/media/image12.png" Id="R63f37aa7f4ac46f0" /><Relationship Type="http://schemas.openxmlformats.org/officeDocument/2006/relationships/notesSlide" Target="/ppt/notesSlides/notesSlide8.xml" Id="R2572365bb1e441e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fb70c65332e4234" /><Relationship Type="http://schemas.openxmlformats.org/officeDocument/2006/relationships/image" Target="/ppt/media/image5.emf" Id="R9b3b7babebd442e6" /><Relationship Type="http://schemas.openxmlformats.org/officeDocument/2006/relationships/image" Target="/ppt/media/image13.png" Id="R0f6d6cd4f68144c0" /><Relationship Type="http://schemas.openxmlformats.org/officeDocument/2006/relationships/notesSlide" Target="/ppt/notesSlides/notesSlide9.xml" Id="R66b04db253f54d9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93a8ac62e1d466d" /><Relationship Type="http://schemas.openxmlformats.org/officeDocument/2006/relationships/image" Target="/ppt/media/image3.emf" Id="R34055430f82d4b30" /><Relationship Type="http://schemas.openxmlformats.org/officeDocument/2006/relationships/image" Target="/ppt/media/image4.emf" Id="R8975ff8d9312443d" /><Relationship Type="http://schemas.openxmlformats.org/officeDocument/2006/relationships/image" Target="/ppt/media/image14.png" Id="R123cbb45c6c24f85" /><Relationship Type="http://schemas.openxmlformats.org/officeDocument/2006/relationships/image" Target="/ppt/media/image15.png" Id="Ra44bd88ab6c94285" /><Relationship Type="http://schemas.openxmlformats.org/officeDocument/2006/relationships/notesSlide" Target="/ppt/notesSlides/notesSlide10.xml" Id="R31ecba8ace254ec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d3333463e644c8b" /><Relationship Type="http://schemas.openxmlformats.org/officeDocument/2006/relationships/image" Target="/ppt/media/image2.emf" Id="R790ea40c2b6f4c3c" /><Relationship Type="http://schemas.openxmlformats.org/officeDocument/2006/relationships/image" Target="/ppt/media/image2.png" Id="R482efe2042cd4fd0" /><Relationship Type="http://schemas.openxmlformats.org/officeDocument/2006/relationships/image" Target="/ppt/media/image16.png" Id="Rdded1b57323247e9" /><Relationship Type="http://schemas.openxmlformats.org/officeDocument/2006/relationships/image" Target="/ppt/media/image17.png" Id="R545b60de5dde446c" /><Relationship Type="http://schemas.openxmlformats.org/officeDocument/2006/relationships/notesSlide" Target="/ppt/notesSlides/notesSlide11.xml" Id="R37f0086c7ee74e5f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FE0C78B2-3867-CA30-F455-860C1034458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598" cy="1325563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r>
              <a:rPr sz="3200">
                <a:solidFill>
                  <a:srgbClr val="495969"/>
                </a:solidFill>
                <a:latin typeface="Baskerville"/>
                <a:ea typeface="Baskerville"/>
                <a:cs typeface="Baskerville"/>
              </a:rPr>
              <a:t>WR2 Flanker model: progress, limits, and next test</a:t>
            </a:r>
          </a:p>
        </p:txBody>
      </p:sp>
      <p:sp>
        <p:nvSpPr>
          <p:cNvPr id="7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085A9D70-22EA-4858-569D-72305DE37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90687"/>
            <a:ext cx="7309513" cy="454633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 fontScale="100000" lnSpcReduction="1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r>
              <a:rPr sz="2000">
                <a:solidFill>
                  <a:srgbClr val="006498"/>
                </a:solidFill>
                <a:latin typeface="Baskerville"/>
                <a:ea typeface="Baskerville"/>
                <a:cs typeface="Baskerville"/>
              </a:rPr>
              <a:t>From RT-bin diagnostics to a controlled target–flanker source test</a:t>
            </a:r>
          </a:p>
          <a:p xmlns:a="http://schemas.openxmlformats.org/drawingml/2006/main">
            <a:pPr marL="0" indent="0">
              <a:buNone/>
            </a:pPr>
            <a:r>
              <a:rPr sz="2000">
                <a:latin typeface="Baskerville"/>
                <a:ea typeface="Baskerville"/>
                <a:cs typeface="Baskerville"/>
              </a:rPr>
              <a:t>Current best model: WR2 uncertainty schedule + four-choice Wong–Wang</a:t>
            </a:r>
          </a:p>
          <a:p xmlns:a="http://schemas.openxmlformats.org/drawingml/2006/main">
            <a:r>
              <a:rPr sz="2000">
                <a:latin typeface="Baskerville"/>
                <a:ea typeface="Baskerville"/>
                <a:cs typeface="Baskerville"/>
              </a:rPr>
              <a:t>Internal validation: 12 young and 4 older participants</a:t>
            </a:r>
          </a:p>
          <a:p xmlns:a="http://schemas.openxmlformats.org/drawingml/2006/main">
            <a:r>
              <a:rPr sz="2000">
                <a:solidFill>
                  <a:srgbClr val="006498"/>
                </a:solidFill>
                <a:latin typeface="Baskerville"/>
                <a:ea typeface="Baskerville"/>
                <a:cs typeface="Baskerville"/>
              </a:rPr>
              <a:t>Mentor meeting · 19 July 2026</a:t>
            </a:r>
          </a:p>
        </p:txBody>
      </p:sp>
    </p:spTree>
    <p:extLst>
      <p:ext uri="{BB962C8B-B14F-4D97-AF65-F5344CB8AC3E}">
        <p14:creationId xmlns:p14="http://schemas.microsoft.com/office/powerpoint/2010/main" val="3251605095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E686688A-D4B1-5840-D170-A8FD8F4AC95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18631" y="137766"/>
            <a:ext cx="11088459" cy="1325563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r>
              <a:rPr sz="3200">
                <a:solidFill>
                  <a:srgbClr val="495969"/>
                </a:solidFill>
                <a:latin typeface="Baskerville"/>
                <a:ea typeface="Baskerville"/>
                <a:cs typeface="Baskerville"/>
              </a:rPr>
              <a:t>WR2 changes evidence timing—not the backbone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877A24F2-A147-1C5B-AD9C-4F30D13C0C1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14668" y="1291014"/>
            <a:ext cx="11298479" cy="1094136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r>
              <a:rPr sz="1800">
                <a:latin typeface="Baskerville"/>
                <a:ea typeface="Baskerville"/>
                <a:cs typeface="Baskerville"/>
              </a:rPr>
              <a:t>The model is not trained end-to-end. A frozen VGG provides layer-wise direction evidence; WR2 changes when that evidence reaches a four-choice accumulator.</a:t>
            </a:r>
          </a:p>
        </p:txBody>
      </p:sp>
      <p:pic>
        <p:nvPicPr>
          <p:cNvPr id="21" name="图片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ef76d1379cc4070"/>
          <a:srcRect xmlns:a="http://schemas.openxmlformats.org/drawingml/2006/main" l="0" t="6462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4668" y="2503207"/>
            <a:ext cx="7713849" cy="3544597"/>
          </a:xfrm>
          <a:prstGeom xmlns:a="http://schemas.openxmlformats.org/drawingml/2006/main" prst="rect">
            <a:avLst/>
          </a:prstGeom>
        </p:spPr>
      </p:pic>
      <p:sp>
        <p:nvSpPr>
          <p:cNvPr id="13" name="文本框 12">
            <a:extLst xmlns:a="http://schemas.openxmlformats.org/drawingml/2006/main">
              <a:ext uri="{FF2B5EF4-FFF2-40B4-BE49-F238E27FC236}">
                <a16:creationId xmlns:a16="http://schemas.microsoft.com/office/drawing/2014/main" id="{1CDBF42B-278B-5125-DDAE-4C55D16FB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1178" y="2616577"/>
            <a:ext cx="3431969" cy="33239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285750" indent="-285750">
              <a:buFont typeface="Arial"/>
              <a:buChar char="•"/>
            </a:pPr>
            <a:r>
              <a:rPr sz="1400">
                <a:solidFill>
                  <a:srgbClr val="006498"/>
                </a:solidFill>
                <a:latin typeface="Baskerville"/>
                <a:ea typeface="Baskerville"/>
                <a:cs typeface="Baskerville"/>
              </a:rPr>
              <a:t>WR2 timing rule</a:t>
            </a:r>
          </a:p>
          <a:p xmlns:a="http://schemas.openxmlformats.org/drawingml/2006/main">
            <a:pPr marL="742950" indent="-285750">
              <a:buFont typeface="Arial"/>
              <a:buChar char="•"/>
            </a:pPr>
            <a:r>
              <a:rPr sz="1400">
                <a:latin typeface="Baskerville"/>
                <a:ea typeface="Baskerville"/>
                <a:cs typeface="Baskerville"/>
              </a:rPr>
              <a:t>Early uncertainty is computed over the first 150 ms.</a:t>
            </a:r>
          </a:p>
          <a:p xmlns:a="http://schemas.openxmlformats.org/drawingml/2006/main">
            <a:pPr marL="742950" indent="-285750">
              <a:buFont typeface="Arial"/>
              <a:buChar char="•"/>
            </a:pPr>
            <a:r>
              <a:rPr sz="1400">
                <a:latin typeface="Baskerville"/>
                <a:ea typeface="Baskerville"/>
                <a:cs typeface="Baskerville"/>
              </a:rPr>
              <a:t>Low uncertainty uses compression = 0.72.</a:t>
            </a:r>
          </a:p>
          <a:p xmlns:a="http://schemas.openxmlformats.org/drawingml/2006/main">
            <a:pPr>
              <a:buNone/>
            </a:pPr>
            <a:r>
              <a:rPr sz="1400">
                <a:latin typeface="Baskerville"/>
                <a:ea typeface="Baskerville"/>
                <a:cs typeface="Baskerville"/>
              </a:rPr>
              <a:t>High uncertainty moves toward 0.42.</a:t>
            </a:r>
          </a:p>
          <a:p xmlns:a="http://schemas.openxmlformats.org/drawingml/2006/main">
            <a:pPr marL="742950" indent="-285750">
              <a:buFont typeface="Arial"/>
              <a:buChar char="•"/>
            </a:pPr>
            <a:r>
              <a:rPr sz="1400">
                <a:latin typeface="Baskerville"/>
                <a:ea typeface="Baskerville"/>
                <a:cs typeface="Baskerville"/>
              </a:rPr>
              <a:t>The change is continuous—not a condition label or lapse process.</a:t>
            </a:r>
          </a:p>
        </p:txBody>
      </p:sp>
      <p:sp>
        <p:nvSpPr>
          <p:cNvPr id="15" name="文本框 14">
            <a:extLst xmlns:a="http://schemas.openxmlformats.org/drawingml/2006/main">
              <a:ext uri="{FF2B5EF4-FFF2-40B4-BE49-F238E27FC236}">
                <a16:creationId xmlns:a16="http://schemas.microsoft.com/office/drawing/2014/main" id="{8D7D7E5F-8C0F-90D0-1DF0-1AA7A1395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338" y="6103882"/>
            <a:ext cx="7535840" cy="70788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000">
                <a:solidFill>
                  <a:schemeClr val="bg1">
                    <a:lumMod val="50000"/>
                  </a:schemeClr>
                </a:solidFill>
                <a:latin typeface="Baskerville"/>
                <a:ea typeface="Baskerville"/>
                <a:cs typeface="Baskerville"/>
              </a:rPr>
              <a:t>Wong–Wang role: competing state variables integrate the four direction channels. Threshold crossing provides decision time; the winning state provides choice.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DD73929-D0FA-47DF-8246-300ED67A0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668" y="2503207"/>
            <a:ext cx="7713849" cy="354459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f6f236c3f26490c"/>
          <a:stretch xmlns:a="http://schemas.openxmlformats.org/drawingml/2006/main"/>
        </p:blipFill>
        <p:spPr>
          <a:xfrm xmlns:a="http://schemas.openxmlformats.org/drawingml/2006/main">
            <a:off x="614668" y="3124649"/>
            <a:ext cx="7713849" cy="2301713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3703467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61FC2448-42A7-91CF-35AD-030571FCDF3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18631" y="137766"/>
            <a:ext cx="11294517" cy="1325563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r>
              <a:rPr sz="3200">
                <a:solidFill>
                  <a:srgbClr val="495969"/>
                </a:solidFill>
                <a:latin typeface="Baskerville"/>
                <a:ea typeface="Baskerville"/>
                <a:cs typeface="Baskerville"/>
              </a:rPr>
              <a:t>WR2 fitting and participant-held-out validation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887D134A-11FF-620E-5989-71C550CCA508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14669" y="1463329"/>
            <a:ext cx="11298479" cy="1094136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r>
              <a:rPr sz="1800">
                <a:solidFill>
                  <a:srgbClr val="006498"/>
                </a:solidFill>
                <a:latin typeface="Baskerville"/>
                <a:ea typeface="Baskerville"/>
                <a:cs typeface="Baskerville"/>
              </a:rPr>
              <a:t>The selected WR2 candidate came from 240 local timing configurations; validation was internal and participant-held-out, not external.</a:t>
            </a:r>
          </a:p>
        </p:txBody>
      </p:sp>
      <p:pic>
        <p:nvPicPr>
          <p:cNvPr id="13" name="图片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6f4669460f349a3"/>
          <a:srcRect xmlns:a="http://schemas.openxmlformats.org/drawingml/2006/main" l="0" t="6494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60098" y="2476334"/>
            <a:ext cx="6599200" cy="1981235"/>
          </a:xfrm>
          <a:prstGeom xmlns:a="http://schemas.openxmlformats.org/drawingml/2006/main" prst="rect">
            <a:avLst/>
          </a:prstGeom>
        </p:spPr>
      </p:pic>
      <p:pic>
        <p:nvPicPr>
          <p:cNvPr id="14" name="图片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03b6522c0e741d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45381" y="2476334"/>
            <a:ext cx="5267767" cy="4033340"/>
          </a:xfrm>
          <a:prstGeom xmlns:a="http://schemas.openxmlformats.org/drawingml/2006/main" prst="rect">
            <a:avLst/>
          </a:prstGeom>
        </p:spPr>
      </p:pic>
      <p:graphicFrame>
        <p:nvGraphicFramePr>
          <p:cNvPr id="15" name="表格 6"/>
          <p:cNvGraphicFramePr/>
          <p:nvPr/>
        </p:nvGraphicFramePr>
        <p:xfrm>
          <a:off xmlns:a="http://schemas.openxmlformats.org/drawingml/2006/main" x="614669" y="4620681"/>
          <a:ext xmlns:a="http://schemas.openxmlformats.org/drawingml/2006/main" cx="5798007" cy="1740868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932669"/>
                <a:gridCol w="1932669"/>
                <a:gridCol w="1932669"/>
              </a:tblGrid>
              <a:tr h="27975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00">
                          <a:latin typeface="Baskerville"/>
                          <a:ea typeface="Baskerville"/>
                          <a:cs typeface="Baskerville"/>
                        </a:rPr>
                        <a:t>Stage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00">
                          <a:latin typeface="Baskerville"/>
                          <a:ea typeface="Baskerville"/>
                          <a:cs typeface="Baskerville"/>
                        </a:rPr>
                        <a:t>What was fitted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00">
                          <a:latin typeface="Baskerville"/>
                          <a:ea typeface="Baskerville"/>
                          <a:cs typeface="Baskerville"/>
                        </a:rPr>
                        <a:t>Protection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27975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00">
                          <a:solidFill>
                            <a:srgbClr val="006498"/>
                          </a:solidFill>
                          <a:latin typeface="Baskerville"/>
                          <a:ea typeface="Baskerville"/>
                          <a:cs typeface="Baskerville"/>
                        </a:rPr>
                        <a:t>VGG-16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00">
                          <a:latin typeface="Baskerville"/>
                          <a:ea typeface="Baskerville"/>
                          <a:cs typeface="Baskerville"/>
                        </a:rPr>
                        <a:t>Frozen Stage-1 weights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00">
                          <a:latin typeface="Baskerville"/>
                          <a:ea typeface="Baskerville"/>
                          <a:cs typeface="Baskerville"/>
                        </a:rPr>
                        <a:t>No refit on test behavior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>
                      <a:noFill/>
                    </a:lnB>
                    <a:noFill/>
                  </a:tcPr>
                </a:tc>
              </a:tr>
              <a:tr h="44091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00">
                          <a:solidFill>
                            <a:srgbClr val="006498"/>
                          </a:solidFill>
                          <a:latin typeface="Baskerville"/>
                          <a:ea typeface="Baskerville"/>
                          <a:cs typeface="Baskerville"/>
                        </a:rPr>
                        <a:t>WR2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00">
                          <a:latin typeface="Baskerville"/>
                          <a:ea typeface="Baskerville"/>
                          <a:cs typeface="Baskerville"/>
                        </a:rPr>
                        <a:t>240 local candidates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00">
                          <a:latin typeface="Baskerville"/>
                          <a:ea typeface="Baskerville"/>
                          <a:cs typeface="Baskerville"/>
                        </a:rPr>
                        <a:t>Training-based ranking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29953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00">
                          <a:solidFill>
                            <a:srgbClr val="006498"/>
                          </a:solidFill>
                          <a:latin typeface="Baskerville"/>
                          <a:ea typeface="Baskerville"/>
                          <a:cs typeface="Baskerville"/>
                        </a:rPr>
                        <a:t>WW + t0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00">
                          <a:latin typeface="Baskerville"/>
                          <a:ea typeface="Baskerville"/>
                          <a:cs typeface="Baskerville"/>
                        </a:rPr>
                        <a:t>R5 age-group values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00">
                          <a:latin typeface="Baskerville"/>
                          <a:ea typeface="Baskerville"/>
                          <a:cs typeface="Baskerville"/>
                        </a:rPr>
                        <a:t>Fixed in follow-up tests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4091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00">
                          <a:solidFill>
                            <a:srgbClr val="006498"/>
                          </a:solidFill>
                          <a:latin typeface="Baskerville"/>
                          <a:ea typeface="Baskerville"/>
                          <a:cs typeface="Baskerville"/>
                        </a:rPr>
                        <a:t>Validation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00">
                          <a:latin typeface="Baskerville"/>
                          <a:ea typeface="Baskerville"/>
                          <a:cs typeface="Baskerville"/>
                        </a:rPr>
                        <a:t>4 participant folds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00">
                          <a:latin typeface="Baskerville"/>
                          <a:ea typeface="Baskerville"/>
                          <a:cs typeface="Baskerville"/>
                        </a:rPr>
                        <a:t>3 young + 1 older held out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518202A-A36E-4154-A4BA-5EDD2A6E5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98" y="2476334"/>
            <a:ext cx="6599200" cy="19812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e60ab4569a14029"/>
          <a:stretch xmlns:a="http://schemas.openxmlformats.org/drawingml/2006/main"/>
        </p:blipFill>
        <p:spPr>
          <a:xfrm xmlns:a="http://schemas.openxmlformats.org/drawingml/2006/main">
            <a:off x="1473413" y="2476334"/>
            <a:ext cx="3972570" cy="1981235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0C7786F-1AE8-4B32-8FF3-62FC6115D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5381" y="2476334"/>
            <a:ext cx="5267767" cy="40333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f4fb2c5b0754ec7"/>
          <a:stretch xmlns:a="http://schemas.openxmlformats.org/drawingml/2006/main"/>
        </p:blipFill>
        <p:spPr>
          <a:xfrm xmlns:a="http://schemas.openxmlformats.org/drawingml/2006/main">
            <a:off x="6645381" y="3095093"/>
            <a:ext cx="5267767" cy="2795822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8397364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713293CF-B8F5-BE1B-F7F8-5FAA872D743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18631" y="137766"/>
            <a:ext cx="11088459" cy="1325563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r>
              <a:rPr sz="3200">
                <a:solidFill>
                  <a:srgbClr val="495969"/>
                </a:solidFill>
                <a:latin typeface="Baskerville"/>
                <a:ea typeface="Baskerville"/>
                <a:cs typeface="Baskerville"/>
              </a:rPr>
              <a:t>What WR2 captures—and what it misses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1366F3FA-2476-9081-8F3B-80178B2B4469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14668" y="1291014"/>
            <a:ext cx="11298479" cy="1094136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r>
              <a:rPr sz="2000">
                <a:solidFill>
                  <a:srgbClr val="006498"/>
                </a:solidFill>
                <a:latin typeface="Baskerville"/>
                <a:ea typeface="Baskerville"/>
                <a:cs typeface="Baskerville"/>
              </a:rPr>
              <a:t>The model preserves the expected age and congruency ordering and produces right-skewed RTs, but its incongruent distributions remain too displaced.</a:t>
            </a:r>
          </a:p>
        </p:txBody>
      </p:sp>
      <p:pic>
        <p:nvPicPr>
          <p:cNvPr id="20" name="图片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f91d4cc561d4f9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46470" y="2061175"/>
            <a:ext cx="6591179" cy="3645121"/>
          </a:xfrm>
          <a:prstGeom xmlns:a="http://schemas.openxmlformats.org/drawingml/2006/main" prst="rect">
            <a:avLst/>
          </a:prstGeom>
        </p:spPr>
      </p:pic>
      <p:pic>
        <p:nvPicPr>
          <p:cNvPr id="21" name="图片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5d585e481c2481e"/>
          <a:srcRect xmlns:a="http://schemas.openxmlformats.org/drawingml/2006/main" l="0" t="501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347417" y="5385292"/>
            <a:ext cx="2731874" cy="1304535"/>
          </a:xfrm>
          <a:prstGeom xmlns:a="http://schemas.openxmlformats.org/drawingml/2006/main" prst="rect">
            <a:avLst/>
          </a:prstGeom>
        </p:spPr>
      </p:pic>
      <p:sp>
        <p:nvSpPr>
          <p:cNvPr id="9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1609CCC0-1E87-CFA6-D307-DA5B42AB5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7417" y="4997385"/>
            <a:ext cx="2731874" cy="38790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r>
              <a:rPr sz="1600">
                <a:solidFill>
                  <a:srgbClr val="006498"/>
                </a:solidFill>
                <a:latin typeface="Baskerville"/>
                <a:ea typeface="Baskerville"/>
                <a:cs typeface="Baskerville"/>
              </a:rPr>
              <a:t>What is already useful</a:t>
            </a:r>
          </a:p>
        </p:txBody>
      </p:sp>
      <p:sp>
        <p:nvSpPr>
          <p:cNvPr id="6" name="文本框 5">
            <a:extLst xmlns:a="http://schemas.openxmlformats.org/drawingml/2006/main">
              <a:ext uri="{FF2B5EF4-FFF2-40B4-BE49-F238E27FC236}">
                <a16:creationId xmlns:a16="http://schemas.microsoft.com/office/drawing/2014/main" id="{25F6B2B1-2D8F-6227-9F0E-7BECC0DAD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5847" y="1691406"/>
            <a:ext cx="4775498" cy="313932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1100">
                <a:solidFill>
                  <a:schemeClr val="bg1">
                    <a:lumMod val="50000"/>
                  </a:schemeClr>
                </a:solidFill>
                <a:latin typeface="Baskerville"/>
                <a:ea typeface="Baskerville"/>
                <a:cs typeface="Baskerville"/>
              </a:rPr>
              <a:t>The model reproduces several first-order facts:</a:t>
            </a:r>
          </a:p>
          <a:p xmlns:a="http://schemas.openxmlformats.org/drawingml/2006/main">
            <a:pPr marL="171450" indent="-171450">
              <a:buFont typeface="Arial"/>
              <a:buChar char="•"/>
            </a:pPr>
            <a:r>
              <a:rPr sz="1100">
                <a:solidFill>
                  <a:schemeClr val="bg1">
                    <a:lumMod val="50000"/>
                  </a:schemeClr>
                </a:solidFill>
                <a:latin typeface="Baskerville"/>
                <a:ea typeface="Baskerville"/>
                <a:cs typeface="Baskerville"/>
              </a:rPr>
              <a:t>• older responses are slower than young responses;</a:t>
            </a:r>
          </a:p>
          <a:p xmlns:a="http://schemas.openxmlformats.org/drawingml/2006/main">
            <a:pPr marL="171450" indent="-171450">
              <a:buFont typeface="Arial"/>
              <a:buChar char="•"/>
            </a:pPr>
            <a:r>
              <a:rPr sz="1100">
                <a:latin typeface="Baskerville"/>
                <a:ea typeface="Baskerville"/>
                <a:cs typeface="Baskerville"/>
              </a:rPr>
              <a:t>• incongruent trials are slower than congruent trials;</a:t>
            </a:r>
          </a:p>
          <a:p xmlns:a="http://schemas.openxmlformats.org/drawingml/2006/main">
            <a:pPr marL="171450" indent="-171450">
              <a:buFont typeface="Arial"/>
              <a:buChar char="•"/>
            </a:pPr>
            <a:r>
              <a:rPr sz="1100">
                <a:solidFill>
                  <a:schemeClr val="bg1">
                    <a:lumMod val="50000"/>
                  </a:schemeClr>
                </a:solidFill>
                <a:latin typeface="Baskerville"/>
                <a:ea typeface="Baskerville"/>
                <a:cs typeface="Baskerville"/>
              </a:rPr>
              <a:t>• evidence timing produces non-Gaussian RT variation;</a:t>
            </a:r>
          </a:p>
          <a:p xmlns:a="http://schemas.openxmlformats.org/drawingml/2006/main">
            <a:pPr marL="171450" indent="-171450">
              <a:buFont typeface="Arial"/>
              <a:buChar char="•"/>
            </a:pPr>
            <a:r>
              <a:rPr sz="1100">
                <a:latin typeface="Baskerville"/>
                <a:ea typeface="Baskerville"/>
                <a:cs typeface="Baskerville"/>
              </a:rPr>
              <a:t>• one shared visual backbone works across both age groups.</a:t>
            </a:r>
          </a:p>
          <a:p xmlns:a="http://schemas.openxmlformats.org/drawingml/2006/main">
            <a:pPr marL="171450" indent="-171450">
              <a:buFont typeface="Arial"/>
              <a:buChar char="•"/>
            </a:pPr>
            <a:r>
              <a:rPr sz="1100">
                <a:solidFill>
                  <a:schemeClr val="bg1">
                    <a:lumMod val="50000"/>
                  </a:schemeClr>
                </a:solidFill>
                <a:latin typeface="Baskerville"/>
                <a:ea typeface="Baskerville"/>
                <a:cs typeface="Baskerville"/>
              </a:rPr>
              <a:t>These successes justify keeping WR2 as the current best working model.</a:t>
            </a:r>
          </a:p>
        </p:txBody>
      </p:sp>
      <p:sp>
        <p:nvSpPr>
          <p:cNvPr id="11" name="文本框 10">
            <a:extLst xmlns:a="http://schemas.openxmlformats.org/drawingml/2006/main">
              <a:ext uri="{FF2B5EF4-FFF2-40B4-BE49-F238E27FC236}">
                <a16:creationId xmlns:a16="http://schemas.microsoft.com/office/drawing/2014/main" id="{37722082-1188-95D2-5778-405ADAE95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469" y="5746165"/>
            <a:ext cx="6591179" cy="101566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1000">
                <a:solidFill>
                  <a:schemeClr val="bg1">
                    <a:lumMod val="50000"/>
                  </a:schemeClr>
                </a:solidFill>
                <a:latin typeface="Baskerville"/>
                <a:ea typeface="Baskerville"/>
                <a:cs typeface="Baskerville"/>
              </a:rPr>
              <a:t>The remaining question is not whether the model can produce errors and RT variation. It is whether the same mechanism places errors at the human-like points of the RT distribution.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403DA8D-5FC7-47D6-8F2A-B41821D0B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470" y="2061175"/>
            <a:ext cx="6591179" cy="364512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3c8fbe900b04dd1"/>
          <a:stretch xmlns:a="http://schemas.openxmlformats.org/drawingml/2006/main"/>
        </p:blipFill>
        <p:spPr>
          <a:xfrm xmlns:a="http://schemas.openxmlformats.org/drawingml/2006/main">
            <a:off x="546470" y="2138918"/>
            <a:ext cx="6591179" cy="3489634"/>
          </a:xfrm>
          <a:prstGeom xmlns:a="http://schemas.openxmlformats.org/drawingml/2006/main" prst="rect">
            <a:avLst/>
          </a:prstGeom>
        </p:spPr>
      </p:pic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800EA83-75EB-4E9D-ADAE-67A33B275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7417" y="5385292"/>
            <a:ext cx="2731874" cy="13045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0a504cb402d4872"/>
          <a:stretch xmlns:a="http://schemas.openxmlformats.org/drawingml/2006/main"/>
        </p:blipFill>
        <p:spPr>
          <a:xfrm xmlns:a="http://schemas.openxmlformats.org/drawingml/2006/main">
            <a:off x="8873199" y="5385292"/>
            <a:ext cx="1680309" cy="130453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2851058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713293CF-B8F5-BE1B-F7F8-5FAA872D743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18631" y="137766"/>
            <a:ext cx="11088459" cy="1325563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r>
              <a:rPr sz="3200">
                <a:solidFill>
                  <a:srgbClr val="495969"/>
                </a:solidFill>
                <a:latin typeface="Baskerville"/>
                <a:ea typeface="Baskerville"/>
                <a:cs typeface="Baskerville"/>
              </a:rPr>
              <a:t>The main failure is the joint error–RT shape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1366F3FA-2476-9081-8F3B-80178B2B4469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14668" y="1291014"/>
            <a:ext cx="11298479" cy="1094136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r>
              <a:rPr sz="2000">
                <a:solidFill>
                  <a:srgbClr val="006498"/>
                </a:solidFill>
                <a:latin typeface="Baskerville"/>
                <a:ea typeface="Baskerville"/>
                <a:cs typeface="Baskerville"/>
              </a:rPr>
              <a:t>Human errors exist, and model errors exist; the mismatch is where those errors occur in reaction time and how frequently they occur by condition.</a:t>
            </a:r>
          </a:p>
        </p:txBody>
      </p:sp>
      <p:pic>
        <p:nvPicPr>
          <p:cNvPr id="20" name="图片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9e989a2d7cb454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46470" y="2061175"/>
            <a:ext cx="6591179" cy="3645121"/>
          </a:xfrm>
          <a:prstGeom xmlns:a="http://schemas.openxmlformats.org/drawingml/2006/main" prst="rect">
            <a:avLst/>
          </a:prstGeom>
        </p:spPr>
      </p:pic>
      <p:pic>
        <p:nvPicPr>
          <p:cNvPr id="21" name="图片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5b7fc09349c4344"/>
          <a:srcRect xmlns:a="http://schemas.openxmlformats.org/drawingml/2006/main" l="0" t="501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347417" y="5385292"/>
            <a:ext cx="2731874" cy="1304535"/>
          </a:xfrm>
          <a:prstGeom xmlns:a="http://schemas.openxmlformats.org/drawingml/2006/main" prst="rect">
            <a:avLst/>
          </a:prstGeom>
        </p:spPr>
      </p:pic>
      <p:sp>
        <p:nvSpPr>
          <p:cNvPr id="9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1609CCC0-1E87-CFA6-D307-DA5B42AB5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7417" y="4997385"/>
            <a:ext cx="2731874" cy="38790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r>
              <a:rPr sz="1600">
                <a:solidFill>
                  <a:srgbClr val="006498"/>
                </a:solidFill>
                <a:latin typeface="Baskerville"/>
                <a:ea typeface="Baskerville"/>
                <a:cs typeface="Baskerville"/>
              </a:rPr>
              <a:t>Young incongruent trials</a:t>
            </a:r>
          </a:p>
        </p:txBody>
      </p:sp>
      <p:sp>
        <p:nvSpPr>
          <p:cNvPr id="6" name="文本框 5">
            <a:extLst xmlns:a="http://schemas.openxmlformats.org/drawingml/2006/main">
              <a:ext uri="{FF2B5EF4-FFF2-40B4-BE49-F238E27FC236}">
                <a16:creationId xmlns:a16="http://schemas.microsoft.com/office/drawing/2014/main" id="{25F6B2B1-2D8F-6227-9F0E-7BECC0DAD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5847" y="1691406"/>
            <a:ext cx="4775498" cy="313932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1100">
                <a:solidFill>
                  <a:schemeClr val="bg1">
                    <a:lumMod val="50000"/>
                  </a:schemeClr>
                </a:solidFill>
                <a:latin typeface="Baskerville"/>
                <a:ea typeface="Baskerville"/>
                <a:cs typeface="Baskerville"/>
              </a:rPr>
              <a:t>For young incongruent trials, the full WR2 control overestimates the fastest-bin error rate and remains roughly 205 ms away in median RT during the joint-first-passage comparison.</a:t>
            </a:r>
          </a:p>
          <a:p xmlns:a="http://schemas.openxmlformats.org/drawingml/2006/main">
            <a:pPr marL="171450" indent="-171450">
              <a:buFont typeface="Arial"/>
              <a:buChar char="•"/>
            </a:pPr>
            <a:r>
              <a:rPr sz="1100">
                <a:solidFill>
                  <a:schemeClr val="bg1">
                    <a:lumMod val="50000"/>
                  </a:schemeClr>
                </a:solidFill>
                <a:latin typeface="Baskerville"/>
                <a:ea typeface="Baskerville"/>
                <a:cs typeface="Baskerville"/>
              </a:rPr>
              <a:t>Congruent errors are the opposite problem: the controlled accumulation models usually become perfectly correct, while humans show small but non-zero error rates.</a:t>
            </a:r>
          </a:p>
          <a:p xmlns:a="http://schemas.openxmlformats.org/drawingml/2006/main">
            <a:pPr marL="171450" indent="-171450">
              <a:buFont typeface="Arial"/>
              <a:buChar char="•"/>
            </a:pPr>
            <a:r>
              <a:rPr sz="1100">
                <a:latin typeface="Baskerville"/>
                <a:ea typeface="Baskerville"/>
                <a:cs typeface="Baskerville"/>
              </a:rPr>
              <a:t>Therefore, optimizing overall accuracy alone can hide a mechanistically wrong error–RT relationship.</a:t>
            </a:r>
          </a:p>
        </p:txBody>
      </p:sp>
      <p:sp>
        <p:nvSpPr>
          <p:cNvPr id="11" name="文本框 10">
            <a:extLst xmlns:a="http://schemas.openxmlformats.org/drawingml/2006/main">
              <a:ext uri="{FF2B5EF4-FFF2-40B4-BE49-F238E27FC236}">
                <a16:creationId xmlns:a16="http://schemas.microsoft.com/office/drawing/2014/main" id="{37722082-1188-95D2-5778-405ADAE95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469" y="5746165"/>
            <a:ext cx="6591179" cy="101566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1000">
                <a:solidFill>
                  <a:schemeClr val="bg1">
                    <a:lumMod val="50000"/>
                  </a:schemeClr>
                </a:solidFill>
                <a:latin typeface="Baskerville"/>
                <a:ea typeface="Baskerville"/>
                <a:cs typeface="Baskerville"/>
              </a:rPr>
              <a:t>The density split by correctness makes this visible: human correct and error distributions overlap differently from model correct and error distributions.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7E3E8FF-CF54-4FB6-B4FD-6709E0364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470" y="2061175"/>
            <a:ext cx="6591179" cy="364512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7051f1ae33646e8"/>
          <a:stretch xmlns:a="http://schemas.openxmlformats.org/drawingml/2006/main"/>
        </p:blipFill>
        <p:spPr>
          <a:xfrm xmlns:a="http://schemas.openxmlformats.org/drawingml/2006/main">
            <a:off x="546470" y="2861835"/>
            <a:ext cx="6591179" cy="2043802"/>
          </a:xfrm>
          <a:prstGeom xmlns:a="http://schemas.openxmlformats.org/drawingml/2006/main" prst="rect">
            <a:avLst/>
          </a:prstGeom>
        </p:spPr>
      </p:pic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332D9BD-0613-4BFE-8410-07108CDA0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7417" y="5385292"/>
            <a:ext cx="2731874" cy="13045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70fb9fd79954003"/>
          <a:stretch xmlns:a="http://schemas.openxmlformats.org/drawingml/2006/main"/>
        </p:blipFill>
        <p:spPr>
          <a:xfrm xmlns:a="http://schemas.openxmlformats.org/drawingml/2006/main">
            <a:off x="8849044" y="5385292"/>
            <a:ext cx="1728620" cy="130453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2851058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" name="图片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ac40f24d5f34f68"/>
          <a:srcRect xmlns:a="http://schemas.openxmlformats.org/drawingml/2006/main" l="2139" t="9754" r="1308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047111" y="1156677"/>
            <a:ext cx="7030589" cy="3314334"/>
          </a:xfrm>
          <a:prstGeom xmlns:a="http://schemas.openxmlformats.org/drawingml/2006/main" prst="rect">
            <a:avLst/>
          </a:prstGeom>
        </p:spPr>
      </p:pic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83ACCC97-F164-3936-8E09-6293B5B57D6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18631" y="137766"/>
            <a:ext cx="11088459" cy="1325563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r>
              <a:rPr sz="3200">
                <a:solidFill>
                  <a:srgbClr val="495969"/>
                </a:solidFill>
                <a:latin typeface="Baskerville"/>
                <a:ea typeface="Baskerville"/>
                <a:cs typeface="Baskerville"/>
              </a:rPr>
              <a:t>Measurement error does not explain the mismatch</a:t>
            </a:r>
          </a:p>
        </p:txBody>
      </p:sp>
      <p:sp>
        <p:nvSpPr>
          <p:cNvPr id="6" name="文本框 5">
            <a:extLst xmlns:a="http://schemas.openxmlformats.org/drawingml/2006/main">
              <a:ext uri="{FF2B5EF4-FFF2-40B4-BE49-F238E27FC236}">
                <a16:creationId xmlns:a16="http://schemas.microsoft.com/office/drawing/2014/main" id="{2D25E482-CFE2-4495-46DE-08471BD1E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" y="920792"/>
            <a:ext cx="6552952" cy="59372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600">
                <a:latin typeface="Baskerville"/>
                <a:ea typeface="Baskerville"/>
                <a:cs typeface="Baskerville"/>
              </a:rPr>
              <a:t>Audit: bins, ECDFs, and timing discretization.</a:t>
            </a:r>
          </a:p>
          <a:p xmlns:a="http://schemas.openxmlformats.org/drawingml/2006/main">
            <a:pPr marL="628650" indent="-171450">
              <a:buFont typeface="Arial"/>
              <a:buChar char="•"/>
            </a:pPr>
            <a:r>
              <a:rPr sz="1600">
                <a:solidFill>
                  <a:srgbClr val="006498"/>
                </a:solidFill>
                <a:latin typeface="Baskerville"/>
                <a:ea typeface="Baskerville"/>
                <a:cs typeface="Baskerville"/>
              </a:rPr>
              <a:t>Result: discretization did not shrink the gap.</a:t>
            </a:r>
          </a:p>
          <a:p xmlns:a="http://schemas.openxmlformats.org/drawingml/2006/main">
            <a:pPr marL="628650" indent="-171450">
              <a:buFont typeface="Arial"/>
              <a:buChar char="•"/>
            </a:pPr>
            <a:r>
              <a:rPr sz="1600">
                <a:latin typeface="Baskerville"/>
                <a:ea typeface="Baskerville"/>
                <a:cs typeface="Baskerville"/>
              </a:rPr>
              <a:t>Conclusion: conflict dynamics dominate.</a:t>
            </a:r>
          </a:p>
        </p:txBody>
      </p:sp>
      <p:sp>
        <p:nvSpPr>
          <p:cNvPr id="4" name="文本框 3">
            <a:extLst xmlns:a="http://schemas.openxmlformats.org/drawingml/2006/main">
              <a:ext uri="{FF2B5EF4-FFF2-40B4-BE49-F238E27FC236}">
                <a16:creationId xmlns:a16="http://schemas.microsoft.com/office/drawing/2014/main" id="{E073AA8F-7592-C273-F4EC-92E9DADA4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3638" y="4547161"/>
            <a:ext cx="5834062" cy="23083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285750" indent="-285750">
              <a:buFont typeface="Arial"/>
              <a:buChar char="•"/>
            </a:pPr>
            <a:r>
              <a:rPr sz="1200">
                <a:solidFill>
                  <a:srgbClr val="006498"/>
                </a:solidFill>
                <a:latin typeface="Baskerville"/>
                <a:ea typeface="Baskerville"/>
                <a:cs typeface="Baskerville"/>
              </a:rPr>
              <a:t>Bins remain valuable as a diagnostic view: equal-count bins show the relative fast-to-slow error curve, while fixed-time bins preserve absolute age and RT differences. They are not a substitute for fitting the continuous joint distribution.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8235B63-B83A-4A94-BEE2-1435E295C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7111" y="1156677"/>
            <a:ext cx="7030589" cy="331433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504abadeb484370"/>
          <a:stretch xmlns:a="http://schemas.openxmlformats.org/drawingml/2006/main"/>
        </p:blipFill>
        <p:spPr>
          <a:xfrm xmlns:a="http://schemas.openxmlformats.org/drawingml/2006/main">
            <a:off x="6076655" y="1156677"/>
            <a:ext cx="4971501" cy="3314334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4432104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61FC2448-42A7-91CF-35AD-030571FCDF3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18631" y="137766"/>
            <a:ext cx="11294517" cy="1325563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r>
              <a:rPr sz="3200">
                <a:solidFill>
                  <a:srgbClr val="495969"/>
                </a:solidFill>
                <a:latin typeface="Baskerville"/>
                <a:ea typeface="Baskerville"/>
                <a:cs typeface="Baskerville"/>
              </a:rPr>
              <a:t>VGG retains target and flanker information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887D134A-11FF-620E-5989-71C550CCA508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14669" y="1463329"/>
            <a:ext cx="11298479" cy="1094136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r>
              <a:rPr sz="1800">
                <a:solidFill>
                  <a:srgbClr val="006498"/>
                </a:solidFill>
                <a:latin typeface="Baskerville"/>
                <a:ea typeface="Baskerville"/>
                <a:cs typeface="Baskerville"/>
              </a:rPr>
              <a:t>Clean target-only and flanker-only stimuli were reconstructed from the original assets, then passed through the same frozen VGG and direction probes.</a:t>
            </a:r>
          </a:p>
        </p:txBody>
      </p:sp>
      <p:pic>
        <p:nvPicPr>
          <p:cNvPr id="13" name="图片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4965c2f71a5486e"/>
          <a:srcRect xmlns:a="http://schemas.openxmlformats.org/drawingml/2006/main" l="0" t="6494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60098" y="2476334"/>
            <a:ext cx="6599200" cy="1981235"/>
          </a:xfrm>
          <a:prstGeom xmlns:a="http://schemas.openxmlformats.org/drawingml/2006/main" prst="rect">
            <a:avLst/>
          </a:prstGeom>
        </p:spPr>
      </p:pic>
      <p:pic>
        <p:nvPicPr>
          <p:cNvPr id="14" name="图片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2cbe5df612e454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45381" y="2476334"/>
            <a:ext cx="5267767" cy="4033340"/>
          </a:xfrm>
          <a:prstGeom xmlns:a="http://schemas.openxmlformats.org/drawingml/2006/main" prst="rect">
            <a:avLst/>
          </a:prstGeom>
        </p:spPr>
      </p:pic>
      <p:graphicFrame>
        <p:nvGraphicFramePr>
          <p:cNvPr id="15" name="表格 6"/>
          <p:cNvGraphicFramePr/>
          <p:nvPr/>
        </p:nvGraphicFramePr>
        <p:xfrm>
          <a:off xmlns:a="http://schemas.openxmlformats.org/drawingml/2006/main" x="614669" y="4620681"/>
          <a:ext xmlns:a="http://schemas.openxmlformats.org/drawingml/2006/main" cx="5798007" cy="1740868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932669"/>
                <a:gridCol w="1932669"/>
                <a:gridCol w="1932669"/>
              </a:tblGrid>
              <a:tr h="27975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00">
                          <a:latin typeface="Baskerville"/>
                          <a:ea typeface="Baskerville"/>
                          <a:cs typeface="Baskerville"/>
                        </a:rPr>
                        <a:t>Audit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00">
                          <a:latin typeface="Baskerville"/>
                          <a:ea typeface="Baskerville"/>
                          <a:cs typeface="Baskerville"/>
                        </a:rPr>
                        <a:t>Result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00">
                          <a:latin typeface="Baskerville"/>
                          <a:ea typeface="Baskerville"/>
                          <a:cs typeface="Baskerville"/>
                        </a:rPr>
                        <a:t>Interpretation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27975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00">
                          <a:solidFill>
                            <a:srgbClr val="006498"/>
                          </a:solidFill>
                          <a:latin typeface="Baskerville"/>
                          <a:ea typeface="Baskerville"/>
                          <a:cs typeface="Baskerville"/>
                        </a:rPr>
                        <a:t>Target-only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00">
                          <a:latin typeface="Baskerville"/>
                          <a:ea typeface="Baskerville"/>
                          <a:cs typeface="Baskerville"/>
                        </a:rPr>
                        <a:t>Conv3 = 97.9%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00">
                          <a:latin typeface="Baskerville"/>
                          <a:ea typeface="Baskerville"/>
                          <a:cs typeface="Baskerville"/>
                        </a:rPr>
                        <a:t>Central direction is readable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>
                      <a:noFill/>
                    </a:lnB>
                    <a:noFill/>
                  </a:tcPr>
                </a:tc>
              </a:tr>
              <a:tr h="44091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00">
                          <a:solidFill>
                            <a:srgbClr val="006498"/>
                          </a:solidFill>
                          <a:latin typeface="Baskerville"/>
                          <a:ea typeface="Baskerville"/>
                          <a:cs typeface="Baskerville"/>
                        </a:rPr>
                        <a:t>Flanker-only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00">
                          <a:latin typeface="Baskerville"/>
                          <a:ea typeface="Baskerville"/>
                          <a:cs typeface="Baskerville"/>
                        </a:rPr>
                        <a:t>Conv3 = 100%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00">
                          <a:latin typeface="Baskerville"/>
                          <a:ea typeface="Baskerville"/>
                          <a:cs typeface="Baskerville"/>
                        </a:rPr>
                        <a:t>Peripheral direction is readable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29953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00">
                          <a:solidFill>
                            <a:srgbClr val="006498"/>
                          </a:solidFill>
                          <a:latin typeface="Baskerville"/>
                          <a:ea typeface="Baskerville"/>
                          <a:cs typeface="Baskerville"/>
                        </a:rPr>
                        <a:t>Full rebuild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00">
                          <a:latin typeface="Baskerville"/>
                          <a:ea typeface="Baskerville"/>
                          <a:cs typeface="Baskerville"/>
                        </a:rPr>
                        <a:t>Argmax = 100%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00">
                          <a:latin typeface="Baskerville"/>
                          <a:ea typeface="Baskerville"/>
                          <a:cs typeface="Baskerville"/>
                        </a:rPr>
                        <a:t>Pipeline matches old cache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4091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00">
                          <a:solidFill>
                            <a:srgbClr val="006498"/>
                          </a:solidFill>
                          <a:latin typeface="Baskerville"/>
                          <a:ea typeface="Baskerville"/>
                          <a:cs typeface="Baskerville"/>
                        </a:rPr>
                        <a:t>Coverage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00">
                          <a:latin typeface="Baskerville"/>
                          <a:ea typeface="Baskerville"/>
                          <a:cs typeface="Baskerville"/>
                        </a:rPr>
                        <a:t>9,990 stimuli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00">
                          <a:latin typeface="Baskerville"/>
                          <a:ea typeface="Baskerville"/>
                          <a:cs typeface="Baskerville"/>
                        </a:rPr>
                        <a:t>Formal source audit passed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23DC7EA-E44E-4C14-B475-6176FAD87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98" y="2476334"/>
            <a:ext cx="6599200" cy="19812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8d93ee7eaad4b85"/>
          <a:stretch xmlns:a="http://schemas.openxmlformats.org/drawingml/2006/main"/>
        </p:blipFill>
        <p:spPr>
          <a:xfrm xmlns:a="http://schemas.openxmlformats.org/drawingml/2006/main">
            <a:off x="160098" y="2642052"/>
            <a:ext cx="6599200" cy="164980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5669E17-DD38-4CD1-87E0-3F5B933E9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5381" y="2476334"/>
            <a:ext cx="5267767" cy="40333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464154ab4134b34"/>
          <a:stretch xmlns:a="http://schemas.openxmlformats.org/drawingml/2006/main"/>
        </p:blipFill>
        <p:spPr>
          <a:xfrm xmlns:a="http://schemas.openxmlformats.org/drawingml/2006/main">
            <a:off x="6645381" y="2975497"/>
            <a:ext cx="5267767" cy="303501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8397364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E686688A-D4B1-5840-D170-A8FD8F4AC95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18631" y="137766"/>
            <a:ext cx="11088459" cy="1325563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r>
              <a:rPr sz="3200">
                <a:solidFill>
                  <a:srgbClr val="495969"/>
                </a:solidFill>
                <a:latin typeface="Baskerville"/>
                <a:ea typeface="Baskerville"/>
                <a:cs typeface="Baskerville"/>
              </a:rPr>
              <a:t>Controlled test: source information versus timing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877A24F2-A147-1C5B-AD9C-4F30D13C0C1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14668" y="1291014"/>
            <a:ext cx="11298479" cy="1094136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r>
              <a:rPr sz="1800">
                <a:latin typeface="Baskerville"/>
                <a:ea typeface="Baskerville"/>
                <a:cs typeface="Baskerville"/>
              </a:rPr>
              <a:t>VGG, WR2, WW parameters, thresholds, non-decision time, evidence energy, folds, and random seeds were held fixed. Only source composition and timing changed.</a:t>
            </a:r>
          </a:p>
        </p:txBody>
      </p:sp>
      <p:pic>
        <p:nvPicPr>
          <p:cNvPr id="21" name="图片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f82a6ae4da044de"/>
          <a:srcRect xmlns:a="http://schemas.openxmlformats.org/drawingml/2006/main" l="0" t="6462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4668" y="2503207"/>
            <a:ext cx="7713849" cy="3544597"/>
          </a:xfrm>
          <a:prstGeom xmlns:a="http://schemas.openxmlformats.org/drawingml/2006/main" prst="rect">
            <a:avLst/>
          </a:prstGeom>
        </p:spPr>
      </p:pic>
      <p:sp>
        <p:nvSpPr>
          <p:cNvPr id="13" name="文本框 12">
            <a:extLst xmlns:a="http://schemas.openxmlformats.org/drawingml/2006/main">
              <a:ext uri="{FF2B5EF4-FFF2-40B4-BE49-F238E27FC236}">
                <a16:creationId xmlns:a16="http://schemas.microsoft.com/office/drawing/2014/main" id="{1CDBF42B-278B-5125-DDAE-4C55D16FB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1178" y="2616577"/>
            <a:ext cx="3431969" cy="33239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285750" indent="-285750">
              <a:buFont typeface="Arial"/>
              <a:buChar char="•"/>
            </a:pPr>
            <a:r>
              <a:rPr sz="1400">
                <a:solidFill>
                  <a:srgbClr val="006498"/>
                </a:solidFill>
                <a:latin typeface="Baskerville"/>
                <a:ea typeface="Baskerville"/>
                <a:cs typeface="Baskerville"/>
              </a:rPr>
              <a:t>Four comparison cells</a:t>
            </a:r>
          </a:p>
          <a:p xmlns:a="http://schemas.openxmlformats.org/drawingml/2006/main">
            <a:pPr marL="742950" indent="-285750">
              <a:buFont typeface="Arial"/>
              <a:buChar char="•"/>
            </a:pPr>
            <a:r>
              <a:rPr sz="1400">
                <a:latin typeface="Baskerville"/>
                <a:ea typeface="Baskerville"/>
                <a:cs typeface="Baskerville"/>
              </a:rPr>
              <a:t>M0 — current full-image WR2</a:t>
            </a:r>
          </a:p>
          <a:p xmlns:a="http://schemas.openxmlformats.org/drawingml/2006/main">
            <a:pPr marL="742950" indent="-285750">
              <a:buFont typeface="Arial"/>
              <a:buChar char="•"/>
            </a:pPr>
            <a:r>
              <a:rPr sz="1400">
                <a:latin typeface="Baskerville"/>
                <a:ea typeface="Baskerville"/>
                <a:cs typeface="Baskerville"/>
              </a:rPr>
              <a:t>M1 — target and flanker simultaneous</a:t>
            </a:r>
          </a:p>
          <a:p xmlns:a="http://schemas.openxmlformats.org/drawingml/2006/main">
            <a:pPr>
              <a:buNone/>
            </a:pPr>
            <a:r>
              <a:rPr sz="1400">
                <a:latin typeface="Baskerville"/>
                <a:ea typeface="Baskerville"/>
                <a:cs typeface="Baskerville"/>
              </a:rPr>
              <a:t>M2 — flanker early/decaying; target delayed/ramping</a:t>
            </a:r>
          </a:p>
          <a:p xmlns:a="http://schemas.openxmlformats.org/drawingml/2006/main">
            <a:pPr marL="742950" indent="-285750">
              <a:buFont typeface="Arial"/>
              <a:buChar char="•"/>
            </a:pPr>
            <a:r>
              <a:rPr sz="1400">
                <a:latin typeface="Baskerville"/>
                <a:ea typeface="Baskerville"/>
                <a:cs typeface="Baskerville"/>
              </a:rPr>
              <a:t>M3 — reversed timing placebo</a:t>
            </a:r>
          </a:p>
          <a:p xmlns:a="http://schemas.openxmlformats.org/drawingml/2006/main">
            <a:pPr>
              <a:buNone/>
            </a:pPr>
            <a:r>
              <a:rPr sz="1400">
                <a:latin typeface="Baskerville"/>
                <a:ea typeface="Baskerville"/>
                <a:cs typeface="Baskerville"/>
              </a:rPr>
              <a:t>Timing grid: target delay 40/80/120 ms; flanker decay 80/120/160 ms.</a:t>
            </a:r>
          </a:p>
        </p:txBody>
      </p:sp>
      <p:sp>
        <p:nvSpPr>
          <p:cNvPr id="15" name="文本框 14">
            <a:extLst xmlns:a="http://schemas.openxmlformats.org/drawingml/2006/main">
              <a:ext uri="{FF2B5EF4-FFF2-40B4-BE49-F238E27FC236}">
                <a16:creationId xmlns:a16="http://schemas.microsoft.com/office/drawing/2014/main" id="{8D7D7E5F-8C0F-90D0-1DF0-1AA7A1395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338" y="6103882"/>
            <a:ext cx="7535840" cy="70788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000">
                <a:solidFill>
                  <a:schemeClr val="bg1">
                    <a:lumMod val="50000"/>
                  </a:schemeClr>
                </a:solidFill>
                <a:latin typeface="Baskerville"/>
                <a:ea typeface="Baskerville"/>
                <a:cs typeface="Baskerville"/>
              </a:rPr>
              <a:t>A mechanism could pass only if continuous RT distance, total error, and error-by-RT shape all improved—without eliminating congruent errors or worsening the other age × condition cells.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9E31E22-8DC4-474D-BE46-F15C97996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668" y="2503207"/>
            <a:ext cx="7713849" cy="354459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3f37aa7f4ac46f0"/>
          <a:stretch xmlns:a="http://schemas.openxmlformats.org/drawingml/2006/main"/>
        </p:blipFill>
        <p:spPr>
          <a:xfrm xmlns:a="http://schemas.openxmlformats.org/drawingml/2006/main">
            <a:off x="614668" y="2759267"/>
            <a:ext cx="7713849" cy="3032477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3703467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" name="图片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b3b7babebd442e6"/>
          <a:srcRect xmlns:a="http://schemas.openxmlformats.org/drawingml/2006/main" l="2139" t="9754" r="1308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047111" y="1156677"/>
            <a:ext cx="7030589" cy="3314334"/>
          </a:xfrm>
          <a:prstGeom xmlns:a="http://schemas.openxmlformats.org/drawingml/2006/main" prst="rect">
            <a:avLst/>
          </a:prstGeom>
        </p:spPr>
      </p:pic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83ACCC97-F164-3936-8E09-6293B5B57D6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18631" y="137766"/>
            <a:ext cx="11088459" cy="1325563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r>
              <a:rPr sz="3200">
                <a:solidFill>
                  <a:srgbClr val="495969"/>
                </a:solidFill>
                <a:latin typeface="Baskerville"/>
                <a:ea typeface="Baskerville"/>
                <a:cs typeface="Baskerville"/>
              </a:rPr>
              <a:t>No dual-route candidate passes the joint behavioral criteria</a:t>
            </a:r>
          </a:p>
        </p:txBody>
      </p:sp>
      <p:sp>
        <p:nvSpPr>
          <p:cNvPr id="6" name="文本框 5">
            <a:extLst xmlns:a="http://schemas.openxmlformats.org/drawingml/2006/main">
              <a:ext uri="{FF2B5EF4-FFF2-40B4-BE49-F238E27FC236}">
                <a16:creationId xmlns:a16="http://schemas.microsoft.com/office/drawing/2014/main" id="{2D25E482-CFE2-4495-46DE-08471BD1E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" y="920792"/>
            <a:ext cx="6552952" cy="59372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600">
                <a:latin typeface="Baskerville"/>
                <a:ea typeface="Baskerville"/>
                <a:cs typeface="Baskerville"/>
              </a:rPr>
              <a:t>Four-fold × ten-seed result</a:t>
            </a:r>
          </a:p>
          <a:p xmlns:a="http://schemas.openxmlformats.org/drawingml/2006/main">
            <a:pPr marL="628650" indent="-171450">
              <a:buFont typeface="Arial"/>
              <a:buChar char="•"/>
            </a:pPr>
            <a:r>
              <a:rPr sz="1600">
                <a:solidFill>
                  <a:srgbClr val="006498"/>
                </a:solidFill>
                <a:latin typeface="Baskerville"/>
                <a:ea typeface="Baskerville"/>
                <a:cs typeface="Baskerville"/>
              </a:rPr>
              <a:t>M0 Full WR2: 17.7 pp; 205 ms</a:t>
            </a:r>
          </a:p>
          <a:p xmlns:a="http://schemas.openxmlformats.org/drawingml/2006/main">
            <a:pPr marL="628650" indent="-171450">
              <a:buFont typeface="Arial"/>
              <a:buChar char="•"/>
            </a:pPr>
            <a:r>
              <a:rPr sz="1600">
                <a:latin typeface="Baskerville"/>
                <a:ea typeface="Baskerville"/>
                <a:cs typeface="Baskerville"/>
              </a:rPr>
              <a:t>M1 Simultaneous: 29.5 pp</a:t>
            </a:r>
          </a:p>
          <a:p xmlns:a="http://schemas.openxmlformats.org/drawingml/2006/main">
            <a:pPr marL="628650" indent="-171450">
              <a:buFont typeface="Arial"/>
              <a:buChar char="•"/>
            </a:pPr>
            <a:r>
              <a:rPr sz="1600">
                <a:solidFill>
                  <a:srgbClr val="006498"/>
                </a:solidFill>
                <a:latin typeface="Baskerville"/>
                <a:ea typeface="Baskerville"/>
                <a:cs typeface="Baskerville"/>
              </a:rPr>
              <a:t>M2 Flanker → Target: 47.7 pp</a:t>
            </a:r>
          </a:p>
          <a:p xmlns:a="http://schemas.openxmlformats.org/drawingml/2006/main">
            <a:pPr>
              <a:buNone/>
            </a:pPr>
            <a:r>
              <a:rPr sz="1600">
                <a:latin typeface="Baskerville"/>
                <a:ea typeface="Baskerville"/>
                <a:cs typeface="Baskerville"/>
              </a:rPr>
              <a:t>M3 Reversed: 3.2 pp; overall fit fails</a:t>
            </a:r>
          </a:p>
          <a:p xmlns:a="http://schemas.openxmlformats.org/drawingml/2006/main">
            <a:pPr marL="628650" indent="-171450">
              <a:buFont typeface="Arial"/>
              <a:buChar char="•"/>
            </a:pPr>
            <a:r>
              <a:rPr sz="1600">
                <a:solidFill>
                  <a:srgbClr val="006498"/>
                </a:solidFill>
                <a:latin typeface="Baskerville"/>
                <a:ea typeface="Baskerville"/>
                <a:cs typeface="Baskerville"/>
              </a:rPr>
              <a:t>Pass: 0/40 runs; 0/4 folds</a:t>
            </a:r>
          </a:p>
        </p:txBody>
      </p:sp>
      <p:sp>
        <p:nvSpPr>
          <p:cNvPr id="4" name="文本框 3">
            <a:extLst xmlns:a="http://schemas.openxmlformats.org/drawingml/2006/main">
              <a:ext uri="{FF2B5EF4-FFF2-40B4-BE49-F238E27FC236}">
                <a16:creationId xmlns:a16="http://schemas.microsoft.com/office/drawing/2014/main" id="{E073AA8F-7592-C273-F4EC-92E9DADA4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3638" y="4547161"/>
            <a:ext cx="5834062" cy="23083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285750" indent="-285750">
              <a:buFont typeface="Arial"/>
              <a:buChar char="•"/>
            </a:pPr>
            <a:r>
              <a:rPr sz="1200">
                <a:solidFill>
                  <a:srgbClr val="006498"/>
                </a:solidFill>
                <a:latin typeface="Baskerville"/>
                <a:ea typeface="Baskerville"/>
                <a:cs typeface="Baskerville"/>
              </a:rPr>
              <a:t>A small fast-error gap is not sufficient. M3 looks good on that one number only because it creates the wrong error curve elsewhere. The joint criteria correctly reject this apparent improvement.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3CB397-277B-46EF-8874-5AA72D6F1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7111" y="1156677"/>
            <a:ext cx="7030589" cy="331433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f6d6cd4f68144c0"/>
          <a:stretch xmlns:a="http://schemas.openxmlformats.org/drawingml/2006/main"/>
        </p:blipFill>
        <p:spPr>
          <a:xfrm xmlns:a="http://schemas.openxmlformats.org/drawingml/2006/main">
            <a:off x="5047111" y="1698507"/>
            <a:ext cx="7030589" cy="2230673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4432104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713293CF-B8F5-BE1B-F7F8-5FAA872D743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18631" y="137766"/>
            <a:ext cx="11088459" cy="1325563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r>
              <a:rPr sz="3200">
                <a:solidFill>
                  <a:srgbClr val="495969"/>
                </a:solidFill>
                <a:latin typeface="Baskerville"/>
                <a:ea typeface="Baskerville"/>
                <a:cs typeface="Baskerville"/>
              </a:rPr>
              <a:t>RT-bin curves expose misleading aggregate gains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1366F3FA-2476-9081-8F3B-80178B2B4469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14668" y="1291014"/>
            <a:ext cx="11298479" cy="1094136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r>
              <a:rPr sz="2000">
                <a:solidFill>
                  <a:srgbClr val="006498"/>
                </a:solidFill>
                <a:latin typeface="Baskerville"/>
                <a:ea typeface="Baskerville"/>
                <a:cs typeface="Baskerville"/>
              </a:rPr>
              <a:t>The dual-route manipulation changes the shape strongly—but in the wrong way for at least one age group or condition.</a:t>
            </a:r>
          </a:p>
        </p:txBody>
      </p:sp>
      <p:pic>
        <p:nvPicPr>
          <p:cNvPr id="20" name="图片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4055430f82d4b3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46470" y="2061175"/>
            <a:ext cx="6591179" cy="3645121"/>
          </a:xfrm>
          <a:prstGeom xmlns:a="http://schemas.openxmlformats.org/drawingml/2006/main" prst="rect">
            <a:avLst/>
          </a:prstGeom>
        </p:spPr>
      </p:pic>
      <p:pic>
        <p:nvPicPr>
          <p:cNvPr id="21" name="图片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975ff8d9312443d"/>
          <a:srcRect xmlns:a="http://schemas.openxmlformats.org/drawingml/2006/main" l="0" t="501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347417" y="5385292"/>
            <a:ext cx="2731874" cy="1304535"/>
          </a:xfrm>
          <a:prstGeom xmlns:a="http://schemas.openxmlformats.org/drawingml/2006/main" prst="rect">
            <a:avLst/>
          </a:prstGeom>
        </p:spPr>
      </p:pic>
      <p:sp>
        <p:nvSpPr>
          <p:cNvPr id="9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1609CCC0-1E87-CFA6-D307-DA5B42AB5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7417" y="4997385"/>
            <a:ext cx="2731874" cy="38790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r>
              <a:rPr sz="1600">
                <a:solidFill>
                  <a:srgbClr val="006498"/>
                </a:solidFill>
                <a:latin typeface="Baskerville"/>
                <a:ea typeface="Baskerville"/>
                <a:cs typeface="Baskerville"/>
              </a:rPr>
              <a:t>Mechanistic reading</a:t>
            </a:r>
          </a:p>
        </p:txBody>
      </p:sp>
      <p:sp>
        <p:nvSpPr>
          <p:cNvPr id="6" name="文本框 5">
            <a:extLst xmlns:a="http://schemas.openxmlformats.org/drawingml/2006/main">
              <a:ext uri="{FF2B5EF4-FFF2-40B4-BE49-F238E27FC236}">
                <a16:creationId xmlns:a16="http://schemas.microsoft.com/office/drawing/2014/main" id="{25F6B2B1-2D8F-6227-9F0E-7BECC0DAD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5847" y="1691406"/>
            <a:ext cx="4775498" cy="313932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1100">
                <a:solidFill>
                  <a:schemeClr val="bg1">
                    <a:lumMod val="50000"/>
                  </a:schemeClr>
                </a:solidFill>
                <a:latin typeface="Baskerville"/>
                <a:ea typeface="Baskerville"/>
                <a:cs typeface="Baskerville"/>
              </a:rPr>
              <a:t>M2 creates the intended early flanker dominance, but it produces far too many young fast errors.</a:t>
            </a:r>
          </a:p>
          <a:p xmlns:a="http://schemas.openxmlformats.org/drawingml/2006/main">
            <a:pPr marL="171450" indent="-171450">
              <a:buFont typeface="Arial"/>
              <a:buChar char="•"/>
            </a:pPr>
            <a:r>
              <a:rPr sz="1100">
                <a:solidFill>
                  <a:schemeClr val="bg1">
                    <a:lumMod val="50000"/>
                  </a:schemeClr>
                </a:solidFill>
                <a:latin typeface="Baskerville"/>
                <a:ea typeface="Baskerville"/>
                <a:cs typeface="Baskerville"/>
              </a:rPr>
              <a:t>M3 reduces the first-bin gap, yet errors rise toward 100% in slower incongruent bins.</a:t>
            </a:r>
          </a:p>
          <a:p xmlns:a="http://schemas.openxmlformats.org/drawingml/2006/main">
            <a:pPr marL="171450" indent="-171450">
              <a:buFont typeface="Arial"/>
              <a:buChar char="•"/>
            </a:pPr>
            <a:r>
              <a:rPr sz="1100">
                <a:latin typeface="Baskerville"/>
                <a:ea typeface="Baskerville"/>
                <a:cs typeface="Baskerville"/>
              </a:rPr>
              <a:t>M1 remains persistently inaccurate because simultaneous source vectors make conflict trials too ambiguous.</a:t>
            </a:r>
          </a:p>
          <a:p xmlns:a="http://schemas.openxmlformats.org/drawingml/2006/main">
            <a:pPr marL="171450" indent="-171450">
              <a:buFont typeface="Arial"/>
              <a:buChar char="•"/>
            </a:pPr>
            <a:r>
              <a:rPr sz="1100">
                <a:solidFill>
                  <a:schemeClr val="bg1">
                    <a:lumMod val="50000"/>
                  </a:schemeClr>
                </a:solidFill>
                <a:latin typeface="Baskerville"/>
                <a:ea typeface="Baskerville"/>
                <a:cs typeface="Baskerville"/>
              </a:rPr>
              <a:t>All controlled variants still underproduce natural congruent errors.</a:t>
            </a:r>
          </a:p>
          <a:p xmlns:a="http://schemas.openxmlformats.org/drawingml/2006/main">
            <a:pPr marL="171450" indent="-171450">
              <a:buFont typeface="Arial"/>
              <a:buChar char="•"/>
            </a:pPr>
            <a:r>
              <a:rPr sz="1100">
                <a:latin typeface="Baskerville"/>
                <a:ea typeface="Baskerville"/>
                <a:cs typeface="Baskerville"/>
              </a:rPr>
              <a:t>The model needs trial-varying conflict strength, recovery, urgency, or readout dynamics—not only two fixed source envelopes.</a:t>
            </a:r>
          </a:p>
        </p:txBody>
      </p:sp>
      <p:sp>
        <p:nvSpPr>
          <p:cNvPr id="11" name="文本框 10">
            <a:extLst xmlns:a="http://schemas.openxmlformats.org/drawingml/2006/main">
              <a:ext uri="{FF2B5EF4-FFF2-40B4-BE49-F238E27FC236}">
                <a16:creationId xmlns:a16="http://schemas.microsoft.com/office/drawing/2014/main" id="{37722082-1188-95D2-5778-405ADAE95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469" y="5746165"/>
            <a:ext cx="6591179" cy="101566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1000">
                <a:solidFill>
                  <a:schemeClr val="bg1">
                    <a:lumMod val="50000"/>
                  </a:schemeClr>
                </a:solidFill>
                <a:latin typeface="Baskerville"/>
                <a:ea typeface="Baskerville"/>
                <a:cs typeface="Baskerville"/>
              </a:rPr>
              <a:t>The key result is a dissociation: source separation is representationally feasible, but the simple temporal rule is behaviorally inadequate.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F0FE8D1-9996-43DE-8915-CAB54E9ED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470" y="2061175"/>
            <a:ext cx="6591179" cy="364512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23cbb45c6c24f85"/>
          <a:stretch xmlns:a="http://schemas.openxmlformats.org/drawingml/2006/main"/>
        </p:blipFill>
        <p:spPr>
          <a:xfrm xmlns:a="http://schemas.openxmlformats.org/drawingml/2006/main">
            <a:off x="1427011" y="2061175"/>
            <a:ext cx="4830096" cy="3645121"/>
          </a:xfrm>
          <a:prstGeom xmlns:a="http://schemas.openxmlformats.org/drawingml/2006/main" prst="rect">
            <a:avLst/>
          </a:prstGeom>
        </p:spPr>
      </p:pic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555E322-C502-4712-8FC0-A40EF172B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7417" y="5385292"/>
            <a:ext cx="2731874" cy="13045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44bd88ab6c94285"/>
          <a:stretch xmlns:a="http://schemas.openxmlformats.org/drawingml/2006/main"/>
        </p:blipFill>
        <p:spPr>
          <a:xfrm xmlns:a="http://schemas.openxmlformats.org/drawingml/2006/main">
            <a:off x="8881369" y="5385292"/>
            <a:ext cx="1663969" cy="130453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2851058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61FC2448-42A7-91CF-35AD-030571FCDF3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18631" y="137766"/>
            <a:ext cx="11294517" cy="1325563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r>
              <a:rPr sz="3200">
                <a:solidFill>
                  <a:srgbClr val="495969"/>
                </a:solidFill>
                <a:latin typeface="Baskerville"/>
                <a:ea typeface="Baskerville"/>
                <a:cs typeface="Baskerville"/>
              </a:rPr>
              <a:t>The implementation fails—but the bottleneck remains open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887D134A-11FF-620E-5989-71C550CCA508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14669" y="1463329"/>
            <a:ext cx="11298479" cy="1094136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r>
              <a:rPr sz="1800">
                <a:solidFill>
                  <a:srgbClr val="006498"/>
                </a:solidFill>
                <a:latin typeface="Baskerville"/>
                <a:ea typeface="Baskerville"/>
                <a:cs typeface="Baskerville"/>
              </a:rPr>
              <a:t>The evidence narrows the diagnosis without yet deciding whether the next change belongs in spatial readout, decision dynamics, or the modeling objective itself.</a:t>
            </a:r>
          </a:p>
        </p:txBody>
      </p:sp>
      <p:pic>
        <p:nvPicPr>
          <p:cNvPr id="13" name="图片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90ea40c2b6f4c3c"/>
          <a:srcRect xmlns:a="http://schemas.openxmlformats.org/drawingml/2006/main" l="0" t="6494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60098" y="2476334"/>
            <a:ext cx="6599200" cy="1981235"/>
          </a:xfrm>
          <a:prstGeom xmlns:a="http://schemas.openxmlformats.org/drawingml/2006/main" prst="rect">
            <a:avLst/>
          </a:prstGeom>
        </p:spPr>
      </p:pic>
      <p:pic>
        <p:nvPicPr>
          <p:cNvPr id="14" name="图片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82efe2042cd4fd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45381" y="2476334"/>
            <a:ext cx="5267767" cy="4033340"/>
          </a:xfrm>
          <a:prstGeom xmlns:a="http://schemas.openxmlformats.org/drawingml/2006/main" prst="rect">
            <a:avLst/>
          </a:prstGeom>
        </p:spPr>
      </p:pic>
      <p:graphicFrame>
        <p:nvGraphicFramePr>
          <p:cNvPr id="15" name="表格 6"/>
          <p:cNvGraphicFramePr/>
          <p:nvPr/>
        </p:nvGraphicFramePr>
        <p:xfrm>
          <a:off xmlns:a="http://schemas.openxmlformats.org/drawingml/2006/main" x="614669" y="4620681"/>
          <a:ext xmlns:a="http://schemas.openxmlformats.org/drawingml/2006/main" cx="5798007" cy="1740868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932669"/>
                <a:gridCol w="1932669"/>
                <a:gridCol w="1932669"/>
              </a:tblGrid>
              <a:tr h="27975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00">
                          <a:latin typeface="Baskerville"/>
                          <a:ea typeface="Baskerville"/>
                          <a:cs typeface="Baskerville"/>
                        </a:rPr>
                        <a:t>Component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00">
                          <a:latin typeface="Baskerville"/>
                          <a:ea typeface="Baskerville"/>
                          <a:cs typeface="Baskerville"/>
                        </a:rPr>
                        <a:t>What the evidence says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00">
                          <a:latin typeface="Baskerville"/>
                          <a:ea typeface="Baskerville"/>
                          <a:cs typeface="Baskerville"/>
                        </a:rPr>
                        <a:t>Question for discussion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27975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00">
                          <a:solidFill>
                            <a:srgbClr val="006498"/>
                          </a:solidFill>
                          <a:latin typeface="Baskerville"/>
                          <a:ea typeface="Baskerville"/>
                          <a:cs typeface="Baskerville"/>
                        </a:rPr>
                        <a:t>VGG-16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00">
                          <a:latin typeface="Baskerville"/>
                          <a:ea typeface="Baskerville"/>
                          <a:cs typeface="Baskerville"/>
                        </a:rPr>
                        <a:t>Target/flanker directions are readable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00">
                          <a:latin typeface="Baskerville"/>
                          <a:ea typeface="Baskerville"/>
                          <a:cs typeface="Baskerville"/>
                        </a:rPr>
                        <a:t>Is spatial source identity lost at readout?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>
                      <a:noFill/>
                    </a:lnB>
                    <a:noFill/>
                  </a:tcPr>
                </a:tc>
              </a:tr>
              <a:tr h="44091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00">
                          <a:solidFill>
                            <a:srgbClr val="006498"/>
                          </a:solidFill>
                          <a:latin typeface="Baskerville"/>
                          <a:ea typeface="Baskerville"/>
                          <a:cs typeface="Baskerville"/>
                        </a:rPr>
                        <a:t>Spatial readout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00">
                          <a:latin typeface="Baskerville"/>
                          <a:ea typeface="Baskerville"/>
                          <a:cs typeface="Baskerville"/>
                        </a:rPr>
                        <a:t>Full-image evidence mixes sources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00">
                          <a:latin typeface="Baskerville"/>
                          <a:ea typeface="Baskerville"/>
                          <a:cs typeface="Baskerville"/>
                        </a:rPr>
                        <a:t>Test this before changing the accumulator?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29953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00">
                          <a:solidFill>
                            <a:srgbClr val="006498"/>
                          </a:solidFill>
                          <a:latin typeface="Baskerville"/>
                          <a:ea typeface="Baskerville"/>
                          <a:cs typeface="Baskerville"/>
                        </a:rPr>
                        <a:t>Wong–Wang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00">
                          <a:latin typeface="Baskerville"/>
                          <a:ea typeface="Baskerville"/>
                          <a:cs typeface="Baskerville"/>
                        </a:rPr>
                        <a:t>Fixed dual routes still fail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00">
                          <a:latin typeface="Baskerville"/>
                          <a:ea typeface="Baskerville"/>
                          <a:cs typeface="Baskerville"/>
                        </a:rPr>
                        <a:t>Are recovery, urgency, or readout missing?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4091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00">
                          <a:solidFill>
                            <a:srgbClr val="006498"/>
                          </a:solidFill>
                          <a:latin typeface="Baskerville"/>
                          <a:ea typeface="Baskerville"/>
                          <a:cs typeface="Baskerville"/>
                        </a:rPr>
                        <a:t>Modeling goal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00">
                          <a:latin typeface="Baskerville"/>
                          <a:ea typeface="Baskerville"/>
                          <a:cs typeface="Baskerville"/>
                        </a:rPr>
                        <a:t>Joint error–RT shape remains wrong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00">
                          <a:latin typeface="Baskerville"/>
                          <a:ea typeface="Baskerville"/>
                          <a:cs typeface="Baskerville"/>
                        </a:rPr>
                        <a:t>Better fit or a discriminating mechanism first?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4A5A9B-3A5D-4863-8C52-A4C4F7B10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98" y="2476334"/>
            <a:ext cx="6599200" cy="19812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ded1b57323247e9"/>
          <a:stretch xmlns:a="http://schemas.openxmlformats.org/drawingml/2006/main"/>
        </p:blipFill>
        <p:spPr>
          <a:xfrm xmlns:a="http://schemas.openxmlformats.org/drawingml/2006/main">
            <a:off x="1740319" y="2476334"/>
            <a:ext cx="3438759" cy="1981235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6BB0183-9B98-463B-9909-29C342B19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5381" y="2476334"/>
            <a:ext cx="5267767" cy="40333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45b60de5dde446c"/>
          <a:stretch xmlns:a="http://schemas.openxmlformats.org/drawingml/2006/main"/>
        </p:blipFill>
        <p:spPr>
          <a:xfrm xmlns:a="http://schemas.openxmlformats.org/drawingml/2006/main">
            <a:off x="6706948" y="2476334"/>
            <a:ext cx="5144633" cy="403334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8397364"/>
      </p:ext>
    </p:extLst>
  </p:cSld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2026-07-19T07:49:08.2280000Z</dcterms:created>
  <dcterms:modified xsi:type="dcterms:W3CDTF">2026-07-19T07:49:08.2280000Z</dcterms:modified>
</coreProperties>
</file>